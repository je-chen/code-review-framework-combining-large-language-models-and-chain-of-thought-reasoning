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2.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3.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14"/>
    <p:sldId id="268" r:id="rId15"/>
    <p:sldId id="269" r:id="rId16"/>
    <p:sldId id="277" r:id="rId17"/>
    <p:sldId id="270" r:id="rId18"/>
    <p:sldId id="271" r:id="rId19"/>
    <p:sldId id="272" r:id="rId20"/>
    <p:sldId id="273" r:id="rId21"/>
    <p:sldId id="274" r:id="rId22"/>
    <p:sldId id="27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610"/>
  </p:normalViewPr>
  <p:slideViewPr>
    <p:cSldViewPr snapToGrid="0" snapToObjects="1">
      <p:cViewPr>
        <p:scale>
          <a:sx n="75" d="100"/>
          <a:sy n="75" d="100"/>
        </p:scale>
        <p:origin x="941"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792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85184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202849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2A3F"/>
          </a:solidFill>
          <a:ln w="12700">
            <a:solidFill>
              <a:srgbClr val="E1F5FE"/>
            </a:solidFill>
            <a:prstDash val="solid"/>
          </a:ln>
        </p:spPr>
        <p:txBody>
          <a:bodyPr/>
          <a:lstStyle/>
          <a:p>
            <a:endParaRPr/>
          </a:p>
        </p:txBody>
      </p:sp>
      <p:sp>
        <p:nvSpPr>
          <p:cNvPr id="3" name="Text 1"/>
          <p:cNvSpPr/>
          <p:nvPr/>
        </p:nvSpPr>
        <p:spPr>
          <a:xfrm>
            <a:off x="457200" y="1463040"/>
            <a:ext cx="11247120" cy="1463040"/>
          </a:xfrm>
          <a:prstGeom prst="rect">
            <a:avLst/>
          </a:prstGeom>
          <a:noFill/>
          <a:ln/>
        </p:spPr>
        <p:txBody>
          <a:bodyPr wrap="square" rtlCol="0" anchor="ctr"/>
          <a:lstStyle/>
          <a:p>
            <a:pPr marL="0" indent="0" algn="ctr">
              <a:buNone/>
            </a:pPr>
            <a:r>
              <a:rPr lang="en-US" sz="4000" b="1" dirty="0">
                <a:solidFill>
                  <a:srgbClr val="7DD3FC"/>
                </a:solidFill>
                <a:latin typeface="Microsoft JhengHei" pitchFamily="34" charset="0"/>
                <a:ea typeface="Microsoft JhengHei" pitchFamily="34" charset="-122"/>
                <a:cs typeface="Microsoft JhengHei" pitchFamily="34" charset="-120"/>
              </a:rPr>
              <a:t>基於大語言模型和思維鏈推理的</a:t>
            </a:r>
            <a:endParaRPr lang="en-US" sz="4000" dirty="0"/>
          </a:p>
          <a:p>
            <a:pPr marL="0" indent="0" algn="ctr">
              <a:buNone/>
            </a:pPr>
            <a:r>
              <a:rPr lang="en-US" sz="4000" b="1" dirty="0">
                <a:solidFill>
                  <a:srgbClr val="7DD3FC"/>
                </a:solidFill>
                <a:latin typeface="Microsoft JhengHei" pitchFamily="34" charset="0"/>
                <a:ea typeface="Microsoft JhengHei" pitchFamily="34" charset="-122"/>
                <a:cs typeface="Microsoft JhengHei" pitchFamily="34" charset="-120"/>
              </a:rPr>
              <a:t>程式碼審查框架</a:t>
            </a:r>
            <a:endParaRPr lang="en-US" sz="4000" dirty="0"/>
          </a:p>
        </p:txBody>
      </p:sp>
      <p:sp>
        <p:nvSpPr>
          <p:cNvPr id="4" name="Text 2"/>
          <p:cNvSpPr/>
          <p:nvPr/>
        </p:nvSpPr>
        <p:spPr>
          <a:xfrm>
            <a:off x="457200" y="3017520"/>
            <a:ext cx="11247120" cy="914400"/>
          </a:xfrm>
          <a:prstGeom prst="rect">
            <a:avLst/>
          </a:prstGeom>
          <a:noFill/>
          <a:ln/>
        </p:spPr>
        <p:txBody>
          <a:bodyPr wrap="square" rtlCol="0" anchor="ctr"/>
          <a:lstStyle/>
          <a:p>
            <a:pPr marL="0" indent="0" algn="ctr">
              <a:buNone/>
            </a:pPr>
            <a:r>
              <a:rPr lang="en-US" sz="2200" i="1" dirty="0">
                <a:solidFill>
                  <a:srgbClr val="86EFAC"/>
                </a:solidFill>
                <a:latin typeface="Microsoft JhengHei" pitchFamily="34" charset="0"/>
                <a:ea typeface="Microsoft JhengHei" pitchFamily="34" charset="-122"/>
                <a:cs typeface="Microsoft JhengHei" pitchFamily="34" charset="-120"/>
              </a:rPr>
              <a:t>Code Review Framework Combining</a:t>
            </a:r>
            <a:endParaRPr lang="en-US" sz="2200" dirty="0"/>
          </a:p>
          <a:p>
            <a:pPr marL="0" indent="0" algn="ctr">
              <a:buNone/>
            </a:pPr>
            <a:r>
              <a:rPr lang="en-US" sz="2200" i="1" dirty="0">
                <a:solidFill>
                  <a:srgbClr val="86EFAC"/>
                </a:solidFill>
                <a:latin typeface="Microsoft JhengHei" pitchFamily="34" charset="0"/>
                <a:ea typeface="Microsoft JhengHei" pitchFamily="34" charset="-122"/>
                <a:cs typeface="Microsoft JhengHei" pitchFamily="34" charset="-120"/>
              </a:rPr>
              <a:t>Large Language Models and Chain-of-Thought Reasoning</a:t>
            </a:r>
            <a:endParaRPr lang="en-US" sz="2200" dirty="0"/>
          </a:p>
        </p:txBody>
      </p:sp>
      <p:sp>
        <p:nvSpPr>
          <p:cNvPr id="5" name="Text 3"/>
          <p:cNvSpPr/>
          <p:nvPr/>
        </p:nvSpPr>
        <p:spPr>
          <a:xfrm>
            <a:off x="457200" y="4297680"/>
            <a:ext cx="11247120" cy="822960"/>
          </a:xfrm>
          <a:prstGeom prst="rect">
            <a:avLst/>
          </a:prstGeom>
          <a:noFill/>
          <a:ln/>
        </p:spPr>
        <p:txBody>
          <a:bodyPr wrap="square" rtlCol="0" anchor="ctr"/>
          <a:lstStyle/>
          <a:p>
            <a:pPr marL="0" indent="0" algn="ctr">
              <a:buNone/>
            </a:pPr>
            <a:r>
              <a:rPr lang="en-US" sz="2200" b="1" dirty="0">
                <a:solidFill>
                  <a:srgbClr val="E5E7EB"/>
                </a:solidFill>
                <a:latin typeface="Microsoft JhengHei" pitchFamily="34" charset="0"/>
                <a:ea typeface="Microsoft JhengHei" pitchFamily="34" charset="-122"/>
                <a:cs typeface="Microsoft JhengHei" pitchFamily="34" charset="-120"/>
              </a:rPr>
              <a:t>指導教授：</a:t>
            </a:r>
            <a:r>
              <a:rPr lang="en-US" sz="2200" dirty="0">
                <a:solidFill>
                  <a:srgbClr val="E5E7EB"/>
                </a:solidFill>
                <a:latin typeface="Microsoft JhengHei" pitchFamily="34" charset="0"/>
                <a:ea typeface="Microsoft JhengHei" pitchFamily="34" charset="-122"/>
                <a:cs typeface="Microsoft JhengHei" pitchFamily="34" charset="-120"/>
              </a:rPr>
              <a:t>李文廷 博士
</a:t>
            </a:r>
            <a:r>
              <a:rPr lang="en-US" sz="2200" b="1" dirty="0">
                <a:solidFill>
                  <a:srgbClr val="E5E7EB"/>
                </a:solidFill>
                <a:latin typeface="Microsoft JhengHei" pitchFamily="34" charset="0"/>
                <a:ea typeface="Microsoft JhengHei" pitchFamily="34" charset="-122"/>
                <a:cs typeface="Microsoft JhengHei" pitchFamily="34" charset="-120"/>
              </a:rPr>
              <a:t>研  究  生：</a:t>
            </a:r>
            <a:r>
              <a:rPr lang="en-US" sz="2200" dirty="0">
                <a:solidFill>
                  <a:srgbClr val="E5E7EB"/>
                </a:solidFill>
                <a:latin typeface="Microsoft JhengHei" pitchFamily="34" charset="0"/>
                <a:ea typeface="Microsoft JhengHei" pitchFamily="34" charset="-122"/>
                <a:cs typeface="Microsoft JhengHei" pitchFamily="34" charset="-120"/>
              </a:rPr>
              <a:t>陳冠穎</a:t>
            </a:r>
            <a:endParaRPr lang="en-US" sz="2200" dirty="0"/>
          </a:p>
        </p:txBody>
      </p:sp>
      <p:sp>
        <p:nvSpPr>
          <p:cNvPr id="6" name="Text 4"/>
          <p:cNvSpPr/>
          <p:nvPr/>
        </p:nvSpPr>
        <p:spPr>
          <a:xfrm>
            <a:off x="457200" y="5303520"/>
            <a:ext cx="11247120" cy="914400"/>
          </a:xfrm>
          <a:prstGeom prst="rect">
            <a:avLst/>
          </a:prstGeom>
          <a:noFill/>
          <a:ln/>
        </p:spPr>
        <p:txBody>
          <a:bodyPr wrap="square" rtlCol="0" anchor="ctr"/>
          <a:lstStyle/>
          <a:p>
            <a:pPr marL="0" indent="0" algn="ctr">
              <a:buNone/>
            </a:pPr>
            <a:r>
              <a:rPr lang="en-US" sz="1800" dirty="0">
                <a:solidFill>
                  <a:srgbClr val="9CA3AF"/>
                </a:solidFill>
                <a:latin typeface="Microsoft JhengHei" pitchFamily="34" charset="0"/>
                <a:ea typeface="Microsoft JhengHei" pitchFamily="34" charset="-122"/>
                <a:cs typeface="Microsoft JhengHei" pitchFamily="34" charset="-120"/>
              </a:rPr>
              <a:t>國立高雄師範大學 軟體工程與管理學系</a:t>
            </a:r>
            <a:endParaRPr lang="en-US" sz="1800" dirty="0"/>
          </a:p>
          <a:p>
            <a:pPr marL="0" indent="0" algn="ctr">
              <a:buNone/>
            </a:pPr>
            <a:r>
              <a:rPr lang="en-US" sz="1800" dirty="0">
                <a:solidFill>
                  <a:srgbClr val="9CA3AF"/>
                </a:solidFill>
                <a:latin typeface="Microsoft JhengHei" pitchFamily="34" charset="0"/>
                <a:ea typeface="Microsoft JhengHei" pitchFamily="34" charset="-122"/>
                <a:cs typeface="Microsoft JhengHei" pitchFamily="34" charset="-120"/>
              </a:rPr>
              <a:t>碩士學位論文口試  ·  2026 年 6 月</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研究背景與痛點</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人工程式碼審查</a:t>
            </a:r>
            <a:endParaRPr lang="en-US" sz="2000" dirty="0"/>
          </a:p>
        </p:txBody>
      </p:sp>
      <p:sp>
        <p:nvSpPr>
          <p:cNvPr id="5" name="Text 3"/>
          <p:cNvSpPr/>
          <p:nvPr/>
        </p:nvSpPr>
        <p:spPr>
          <a:xfrm>
            <a:off x="457200" y="1554480"/>
            <a:ext cx="5486400" cy="1371600"/>
          </a:xfrm>
          <a:prstGeom prst="rect">
            <a:avLst/>
          </a:prstGeom>
          <a:noFill/>
          <a:ln/>
        </p:spPr>
        <p:txBody>
          <a:bodyPr wrap="square" rtlCol="0" anchor="t"/>
          <a:lstStyle/>
          <a:p>
            <a:pPr marL="342900" indent="-342900">
              <a:spcAft>
                <a:spcPts val="400"/>
              </a:spcAft>
              <a:buSzPct val="100000"/>
              <a:buChar char="●"/>
            </a:pPr>
            <a:r>
              <a:rPr lang="en-US" sz="1800" dirty="0">
                <a:solidFill>
                  <a:srgbClr val="E5E7EB"/>
                </a:solidFill>
                <a:latin typeface="Microsoft JhengHei" pitchFamily="34" charset="0"/>
                <a:ea typeface="Microsoft JhengHei" pitchFamily="34" charset="-122"/>
                <a:cs typeface="Microsoft JhengHei" pitchFamily="34" charset="-120"/>
              </a:rPr>
              <a:t>可於整合測試前攔截 50 至 70% </a:t>
            </a:r>
            <a:r>
              <a:rPr lang="en-US" sz="1800" dirty="0" err="1">
                <a:solidFill>
                  <a:srgbClr val="E5E7EB"/>
                </a:solidFill>
                <a:latin typeface="Microsoft JhengHei" pitchFamily="34" charset="0"/>
                <a:ea typeface="Microsoft JhengHei" pitchFamily="34" charset="-122"/>
                <a:cs typeface="Microsoft JhengHei" pitchFamily="34" charset="-120"/>
              </a:rPr>
              <a:t>之缺陷</a:t>
            </a:r>
            <a:r>
              <a:rPr lang="en-US" sz="1800" dirty="0">
                <a:solidFill>
                  <a:srgbClr val="E5E7EB"/>
                </a:solidFill>
                <a:latin typeface="Microsoft JhengHei" pitchFamily="34" charset="0"/>
                <a:ea typeface="Microsoft JhengHei" pitchFamily="34" charset="-122"/>
                <a:cs typeface="Microsoft JhengHei" pitchFamily="34" charset="-120"/>
              </a:rPr>
              <a:t> </a:t>
            </a:r>
            <a:r>
              <a:rPr lang="en-US" sz="1800" dirty="0" err="1">
                <a:solidFill>
                  <a:srgbClr val="E5E7EB"/>
                </a:solidFill>
                <a:latin typeface="Microsoft JhengHei" pitchFamily="34" charset="0"/>
                <a:ea typeface="Microsoft JhengHei" pitchFamily="34" charset="-122"/>
                <a:cs typeface="Microsoft JhengHei" pitchFamily="34" charset="-120"/>
              </a:rPr>
              <a:t>耗費大量人力與時間，成為大型專案瓶頸</a:t>
            </a:r>
            <a:r>
              <a:rPr lang="en-US" sz="1800" dirty="0">
                <a:solidFill>
                  <a:srgbClr val="E5E7EB"/>
                </a:solidFill>
                <a:latin typeface="Microsoft JhengHei" pitchFamily="34" charset="0"/>
                <a:ea typeface="Microsoft JhengHei" pitchFamily="34" charset="-122"/>
                <a:cs typeface="Microsoft JhengHei" pitchFamily="34" charset="-120"/>
              </a:rPr>
              <a:t> </a:t>
            </a:r>
            <a:endParaRPr lang="en-US" dirty="0">
              <a:solidFill>
                <a:srgbClr val="E5E7EB"/>
              </a:solidFill>
              <a:latin typeface="Microsoft JhengHei" pitchFamily="34" charset="0"/>
              <a:ea typeface="Microsoft JhengHei" pitchFamily="34" charset="-122"/>
              <a:cs typeface="Microsoft JhengHei" pitchFamily="34" charset="-120"/>
            </a:endParaRPr>
          </a:p>
          <a:p>
            <a:pPr marL="342900" indent="-342900">
              <a:spcAft>
                <a:spcPts val="400"/>
              </a:spcAft>
              <a:buSzPct val="100000"/>
              <a:buChar char="●"/>
            </a:pPr>
            <a:r>
              <a:rPr lang="en-US" sz="1800" dirty="0" err="1">
                <a:solidFill>
                  <a:srgbClr val="E5E7EB"/>
                </a:solidFill>
                <a:latin typeface="Microsoft JhengHei" pitchFamily="34" charset="0"/>
                <a:ea typeface="Microsoft JhengHei" pitchFamily="34" charset="-122"/>
                <a:cs typeface="Microsoft JhengHei" pitchFamily="34" charset="-120"/>
              </a:rPr>
              <a:t>審查標準不一致且主觀性偏高</a:t>
            </a:r>
            <a:r>
              <a:rPr lang="en-US" sz="1800" dirty="0">
                <a:solidFill>
                  <a:srgbClr val="E5E7EB"/>
                </a:solidFill>
                <a:latin typeface="Microsoft JhengHei" pitchFamily="34" charset="0"/>
                <a:ea typeface="Microsoft JhengHei" pitchFamily="34" charset="-122"/>
                <a:cs typeface="Microsoft JhengHei" pitchFamily="34" charset="-120"/>
              </a:rPr>
              <a:t> </a:t>
            </a:r>
            <a:endParaRPr lang="en-US" sz="1800" dirty="0"/>
          </a:p>
        </p:txBody>
      </p:sp>
      <p:sp>
        <p:nvSpPr>
          <p:cNvPr id="6" name="Text 4"/>
          <p:cNvSpPr/>
          <p:nvPr/>
        </p:nvSpPr>
        <p:spPr>
          <a:xfrm>
            <a:off x="457200" y="310896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傳統靜態分析工具</a:t>
            </a:r>
            <a:endParaRPr lang="en-US" sz="2000" dirty="0"/>
          </a:p>
        </p:txBody>
      </p:sp>
      <p:sp>
        <p:nvSpPr>
          <p:cNvPr id="7" name="Text 5"/>
          <p:cNvSpPr/>
          <p:nvPr/>
        </p:nvSpPr>
        <p:spPr>
          <a:xfrm>
            <a:off x="457200" y="3566160"/>
            <a:ext cx="5486400" cy="1371600"/>
          </a:xfrm>
          <a:prstGeom prst="rect">
            <a:avLst/>
          </a:prstGeom>
          <a:noFill/>
          <a:ln/>
        </p:spPr>
        <p:txBody>
          <a:bodyPr wrap="square" rtlCol="0" anchor="t"/>
          <a:lstStyle/>
          <a:p>
            <a:pPr marL="342900" indent="-342900">
              <a:spcAft>
                <a:spcPts val="400"/>
              </a:spcAft>
              <a:buSzPct val="100000"/>
              <a:buChar char="●"/>
            </a:pPr>
            <a:r>
              <a:rPr lang="en-US" sz="1800" dirty="0" err="1">
                <a:solidFill>
                  <a:srgbClr val="E5E7EB"/>
                </a:solidFill>
                <a:latin typeface="Microsoft JhengHei" pitchFamily="34" charset="0"/>
                <a:ea typeface="Microsoft JhengHei" pitchFamily="34" charset="-122"/>
                <a:cs typeface="Microsoft JhengHei" pitchFamily="34" charset="-120"/>
              </a:rPr>
              <a:t>規則僵化、假警告偏多</a:t>
            </a:r>
            <a:r>
              <a:rPr lang="en-US" sz="1800" dirty="0">
                <a:solidFill>
                  <a:srgbClr val="E5E7EB"/>
                </a:solidFill>
                <a:latin typeface="Microsoft JhengHei" pitchFamily="34" charset="0"/>
                <a:ea typeface="Microsoft JhengHei" pitchFamily="34" charset="-122"/>
                <a:cs typeface="Microsoft JhengHei" pitchFamily="34" charset="-120"/>
              </a:rPr>
              <a:t> </a:t>
            </a:r>
          </a:p>
          <a:p>
            <a:pPr marL="342900" indent="-342900">
              <a:spcAft>
                <a:spcPts val="400"/>
              </a:spcAft>
              <a:buSzPct val="100000"/>
              <a:buChar char="●"/>
            </a:pPr>
            <a:r>
              <a:rPr lang="en-US" sz="1800" dirty="0" err="1">
                <a:solidFill>
                  <a:srgbClr val="E5E7EB"/>
                </a:solidFill>
                <a:latin typeface="Microsoft JhengHei" pitchFamily="34" charset="0"/>
                <a:ea typeface="Microsoft JhengHei" pitchFamily="34" charset="-122"/>
                <a:cs typeface="Microsoft JhengHei" pitchFamily="34" charset="-120"/>
              </a:rPr>
              <a:t>僅能處理語法層問題</a:t>
            </a:r>
            <a:endParaRPr lang="en-US" sz="1800" dirty="0"/>
          </a:p>
          <a:p>
            <a:pPr marL="342900" indent="-342900">
              <a:spcAft>
                <a:spcPts val="400"/>
              </a:spcAft>
              <a:buSzPct val="100000"/>
              <a:buChar char="●"/>
            </a:pPr>
            <a:r>
              <a:rPr lang="en-US" sz="1800" dirty="0">
                <a:solidFill>
                  <a:srgbClr val="E5E7EB"/>
                </a:solidFill>
                <a:latin typeface="Microsoft JhengHei" pitchFamily="34" charset="0"/>
                <a:ea typeface="Microsoft JhengHei" pitchFamily="34" charset="-122"/>
                <a:cs typeface="Microsoft JhengHei" pitchFamily="34" charset="-120"/>
              </a:rPr>
              <a:t>缺乏語義層理解與設計合理性判斷</a:t>
            </a:r>
            <a:endParaRPr lang="en-US" sz="1800" dirty="0"/>
          </a:p>
        </p:txBody>
      </p:sp>
      <p:sp>
        <p:nvSpPr>
          <p:cNvPr id="8" name="Text 6"/>
          <p:cNvSpPr/>
          <p:nvPr/>
        </p:nvSpPr>
        <p:spPr>
          <a:xfrm>
            <a:off x="621792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單一提示詞之侷限</a:t>
            </a:r>
            <a:endParaRPr lang="en-US" sz="2000" dirty="0"/>
          </a:p>
        </p:txBody>
      </p:sp>
      <p:sp>
        <p:nvSpPr>
          <p:cNvPr id="9" name="Text 7"/>
          <p:cNvSpPr/>
          <p:nvPr/>
        </p:nvSpPr>
        <p:spPr>
          <a:xfrm>
            <a:off x="6217920" y="1554480"/>
            <a:ext cx="5486400" cy="1371600"/>
          </a:xfrm>
          <a:prstGeom prst="rect">
            <a:avLst/>
          </a:prstGeom>
          <a:noFill/>
          <a:ln/>
        </p:spPr>
        <p:txBody>
          <a:bodyPr wrap="square" rtlCol="0" anchor="t"/>
          <a:lstStyle/>
          <a:p>
            <a:pPr marL="342900" indent="-342900">
              <a:spcAft>
                <a:spcPts val="400"/>
              </a:spcAft>
              <a:buSzPct val="100000"/>
              <a:buChar char="●"/>
            </a:pPr>
            <a:r>
              <a:rPr lang="en-US" sz="1800" dirty="0">
                <a:solidFill>
                  <a:srgbClr val="E5E7EB"/>
                </a:solidFill>
                <a:latin typeface="Microsoft JhengHei" pitchFamily="34" charset="0"/>
                <a:ea typeface="Microsoft JhengHei" pitchFamily="34" charset="-122"/>
                <a:cs typeface="Microsoft JhengHei" pitchFamily="34" charset="-120"/>
              </a:rPr>
              <a:t>上下文負載過重，注意力易分散</a:t>
            </a:r>
            <a:endParaRPr lang="en-US" sz="1800" dirty="0"/>
          </a:p>
          <a:p>
            <a:pPr marL="342900" indent="-342900">
              <a:spcAft>
                <a:spcPts val="400"/>
              </a:spcAft>
              <a:buSzPct val="100000"/>
              <a:buChar char="●"/>
            </a:pPr>
            <a:r>
              <a:rPr lang="en-US" sz="1800" dirty="0">
                <a:solidFill>
                  <a:srgbClr val="E5E7EB"/>
                </a:solidFill>
                <a:latin typeface="Microsoft JhengHei" pitchFamily="34" charset="0"/>
                <a:ea typeface="Microsoft JhengHei" pitchFamily="34" charset="-122"/>
                <a:cs typeface="Microsoft JhengHei" pitchFamily="34" charset="-120"/>
              </a:rPr>
              <a:t>結果出錯時難以定位與修正</a:t>
            </a:r>
            <a:endParaRPr lang="en-US" sz="1800" dirty="0"/>
          </a:p>
          <a:p>
            <a:pPr marL="342900" indent="-342900">
              <a:spcAft>
                <a:spcPts val="400"/>
              </a:spcAft>
              <a:buSzPct val="100000"/>
              <a:buChar char="●"/>
            </a:pPr>
            <a:r>
              <a:rPr lang="en-US" sz="1800" dirty="0">
                <a:solidFill>
                  <a:srgbClr val="E5E7EB"/>
                </a:solidFill>
                <a:latin typeface="Microsoft JhengHei" pitchFamily="34" charset="0"/>
                <a:ea typeface="Microsoft JhengHei" pitchFamily="34" charset="-122"/>
                <a:cs typeface="Microsoft JhengHei" pitchFamily="34" charset="-120"/>
              </a:rPr>
              <a:t>規範資訊一次性塞入，易遭稀釋</a:t>
            </a:r>
            <a:endParaRPr lang="en-US" sz="1800" dirty="0"/>
          </a:p>
        </p:txBody>
      </p:sp>
      <p:sp>
        <p:nvSpPr>
          <p:cNvPr id="10" name="Text 8"/>
          <p:cNvSpPr/>
          <p:nvPr/>
        </p:nvSpPr>
        <p:spPr>
          <a:xfrm>
            <a:off x="6217920" y="310896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大型語言模型之潛力</a:t>
            </a:r>
            <a:endParaRPr lang="en-US" sz="2000" dirty="0"/>
          </a:p>
        </p:txBody>
      </p:sp>
      <p:sp>
        <p:nvSpPr>
          <p:cNvPr id="11" name="Text 9"/>
          <p:cNvSpPr/>
          <p:nvPr/>
        </p:nvSpPr>
        <p:spPr>
          <a:xfrm>
            <a:off x="6217920" y="3566160"/>
            <a:ext cx="5486400" cy="1371600"/>
          </a:xfrm>
          <a:prstGeom prst="rect">
            <a:avLst/>
          </a:prstGeom>
          <a:noFill/>
          <a:ln/>
        </p:spPr>
        <p:txBody>
          <a:bodyPr wrap="square" rtlCol="0" anchor="t"/>
          <a:lstStyle/>
          <a:p>
            <a:pPr marL="342900" indent="-342900">
              <a:spcAft>
                <a:spcPts val="400"/>
              </a:spcAft>
              <a:buSzPct val="100000"/>
              <a:buChar char="●"/>
            </a:pPr>
            <a:r>
              <a:rPr lang="en-US" sz="1800" dirty="0">
                <a:solidFill>
                  <a:srgbClr val="E5E7EB"/>
                </a:solidFill>
                <a:latin typeface="Microsoft JhengHei" pitchFamily="34" charset="0"/>
                <a:ea typeface="Microsoft JhengHei" pitchFamily="34" charset="-122"/>
                <a:cs typeface="Microsoft JhengHei" pitchFamily="34" charset="-120"/>
              </a:rPr>
              <a:t>兼具自然語言與程式語言理解能力</a:t>
            </a:r>
            <a:endParaRPr lang="en-US" sz="1800" dirty="0"/>
          </a:p>
          <a:p>
            <a:pPr marL="342900" indent="-342900">
              <a:spcAft>
                <a:spcPts val="400"/>
              </a:spcAft>
              <a:buSzPct val="100000"/>
              <a:buChar char="●"/>
            </a:pPr>
            <a:r>
              <a:rPr lang="en-US" sz="1800" dirty="0" err="1">
                <a:solidFill>
                  <a:srgbClr val="E5E7EB"/>
                </a:solidFill>
                <a:latin typeface="Microsoft JhengHei" pitchFamily="34" charset="0"/>
                <a:ea typeface="Microsoft JhengHei" pitchFamily="34" charset="-122"/>
                <a:cs typeface="Microsoft JhengHei" pitchFamily="34" charset="-120"/>
              </a:rPr>
              <a:t>可捕捉設計意圖並補足語義層分析</a:t>
            </a:r>
            <a:endParaRPr lang="en-US" dirty="0">
              <a:solidFill>
                <a:srgbClr val="E5E7EB"/>
              </a:solidFill>
              <a:latin typeface="Microsoft JhengHei" pitchFamily="34" charset="0"/>
              <a:ea typeface="Microsoft JhengHei" pitchFamily="34" charset="-122"/>
              <a:cs typeface="Microsoft JhengHei" pitchFamily="34" charset="-120"/>
            </a:endParaRPr>
          </a:p>
          <a:p>
            <a:pPr marL="342900" indent="-342900">
              <a:spcAft>
                <a:spcPts val="400"/>
              </a:spcAft>
              <a:buSzPct val="100000"/>
              <a:buChar char="●"/>
            </a:pPr>
            <a:r>
              <a:rPr lang="en-US" sz="1800" dirty="0" err="1">
                <a:solidFill>
                  <a:srgbClr val="E5E7EB"/>
                </a:solidFill>
                <a:latin typeface="Microsoft JhengHei" pitchFamily="34" charset="0"/>
                <a:ea typeface="Microsoft JhengHei" pitchFamily="34" charset="-122"/>
                <a:cs typeface="Microsoft JhengHei" pitchFamily="34" charset="-120"/>
              </a:rPr>
              <a:t>具備補強既有工具之條件</a:t>
            </a:r>
            <a:endParaRPr lang="en-US" sz="1800" dirty="0"/>
          </a:p>
        </p:txBody>
      </p:sp>
      <p:sp>
        <p:nvSpPr>
          <p:cNvPr id="12" name="Shape 10"/>
          <p:cNvSpPr/>
          <p:nvPr/>
        </p:nvSpPr>
        <p:spPr>
          <a:xfrm>
            <a:off x="457200" y="5212080"/>
            <a:ext cx="11247120" cy="914400"/>
          </a:xfrm>
          <a:prstGeom prst="rect">
            <a:avLst/>
          </a:prstGeom>
          <a:solidFill>
            <a:srgbClr val="2D2A14"/>
          </a:solidFill>
          <a:ln w="12700">
            <a:solidFill>
              <a:srgbClr val="E65100"/>
            </a:solidFill>
            <a:prstDash val="solid"/>
          </a:ln>
        </p:spPr>
        <p:txBody>
          <a:bodyPr/>
          <a:lstStyle/>
          <a:p>
            <a:endParaRPr/>
          </a:p>
        </p:txBody>
      </p:sp>
      <p:sp>
        <p:nvSpPr>
          <p:cNvPr id="13" name="Text 11"/>
          <p:cNvSpPr/>
          <p:nvPr/>
        </p:nvSpPr>
        <p:spPr>
          <a:xfrm>
            <a:off x="548640" y="5303520"/>
            <a:ext cx="11064240" cy="731520"/>
          </a:xfrm>
          <a:prstGeom prst="rect">
            <a:avLst/>
          </a:prstGeom>
          <a:noFill/>
          <a:ln/>
        </p:spPr>
        <p:txBody>
          <a:bodyPr wrap="square" rtlCol="0" anchor="ctr"/>
          <a:lstStyle/>
          <a:p>
            <a:pPr marL="0" indent="0" algn="ctr">
              <a:buNone/>
            </a:pPr>
            <a:r>
              <a:rPr lang="en-US" sz="1800" b="1" dirty="0">
                <a:solidFill>
                  <a:srgbClr val="FDBA74"/>
                </a:solidFill>
                <a:latin typeface="Microsoft JhengHei" pitchFamily="34" charset="0"/>
                <a:ea typeface="Microsoft JhengHei" pitchFamily="34" charset="-122"/>
                <a:cs typeface="Microsoft JhengHei" pitchFamily="34" charset="-120"/>
              </a:rPr>
              <a:t>研究問題：能否藉由多階段 CoT、RAG 與參數高效微調，在有限硬體下建立可解釋且可驗證之自動化程式碼審查框架？</a:t>
            </a:r>
            <a:endParaRPr lang="en-US" sz="1800" dirty="0"/>
          </a:p>
        </p:txBody>
      </p:sp>
      <p:sp>
        <p:nvSpPr>
          <p:cNvPr id="14" name="Text 12"/>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1 / 21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研究目標與三項貢獻</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11247120" cy="411480"/>
          </a:xfrm>
          <a:prstGeom prst="rect">
            <a:avLst/>
          </a:prstGeom>
          <a:noFill/>
          <a:ln/>
        </p:spPr>
        <p:txBody>
          <a:bodyPr wrap="square" rtlCol="0" anchor="ctr"/>
          <a:lstStyle/>
          <a:p>
            <a:pPr marL="0" indent="0">
              <a:buNone/>
            </a:pPr>
            <a:r>
              <a:rPr lang="en-US" sz="2000" b="1" dirty="0">
                <a:solidFill>
                  <a:srgbClr val="7DD3FC"/>
                </a:solidFill>
                <a:latin typeface="Microsoft JhengHei" pitchFamily="34" charset="0"/>
                <a:ea typeface="Microsoft JhengHei" pitchFamily="34" charset="-122"/>
                <a:cs typeface="Microsoft JhengHei" pitchFamily="34" charset="-120"/>
              </a:rPr>
              <a:t>一、多階段 CoT 程式碼審查框架</a:t>
            </a:r>
            <a:endParaRPr lang="en-US" sz="2000" dirty="0"/>
          </a:p>
        </p:txBody>
      </p:sp>
      <p:sp>
        <p:nvSpPr>
          <p:cNvPr id="5" name="Text 3"/>
          <p:cNvSpPr/>
          <p:nvPr/>
        </p:nvSpPr>
        <p:spPr>
          <a:xfrm>
            <a:off x="640080" y="1508760"/>
            <a:ext cx="10972800" cy="457200"/>
          </a:xfrm>
          <a:prstGeom prst="rect">
            <a:avLst/>
          </a:prstGeom>
          <a:noFill/>
          <a:ln/>
        </p:spPr>
        <p:txBody>
          <a:bodyPr wrap="square" rtlCol="0" anchor="ctr"/>
          <a:lstStyle/>
          <a:p>
            <a:pPr marL="0" indent="0">
              <a:buNone/>
            </a:pPr>
            <a:r>
              <a:rPr lang="en-US" sz="1800" dirty="0">
                <a:solidFill>
                  <a:srgbClr val="E5E7EB"/>
                </a:solidFill>
                <a:latin typeface="Microsoft JhengHei" pitchFamily="34" charset="0"/>
                <a:ea typeface="Microsoft JhengHei" pitchFamily="34" charset="-122"/>
                <a:cs typeface="Microsoft JhengHei" pitchFamily="34" charset="-120"/>
              </a:rPr>
              <a:t>依序完成程式碼摘要、初步審查、Linter、Code Smell 與綜合總結</a:t>
            </a:r>
            <a:endParaRPr lang="en-US" sz="1800" dirty="0"/>
          </a:p>
        </p:txBody>
      </p:sp>
      <p:sp>
        <p:nvSpPr>
          <p:cNvPr id="6" name="Text 4"/>
          <p:cNvSpPr/>
          <p:nvPr/>
        </p:nvSpPr>
        <p:spPr>
          <a:xfrm>
            <a:off x="457200" y="2103120"/>
            <a:ext cx="11247120" cy="411480"/>
          </a:xfrm>
          <a:prstGeom prst="rect">
            <a:avLst/>
          </a:prstGeom>
          <a:noFill/>
          <a:ln/>
        </p:spPr>
        <p:txBody>
          <a:bodyPr wrap="square" rtlCol="0" anchor="ctr"/>
          <a:lstStyle/>
          <a:p>
            <a:pPr marL="0" indent="0">
              <a:buNone/>
            </a:pPr>
            <a:r>
              <a:rPr lang="en-US" sz="2000" b="1" dirty="0">
                <a:solidFill>
                  <a:srgbClr val="7DD3FC"/>
                </a:solidFill>
                <a:latin typeface="Microsoft JhengHei" pitchFamily="34" charset="0"/>
                <a:ea typeface="Microsoft JhengHei" pitchFamily="34" charset="-122"/>
                <a:cs typeface="Microsoft JhengHei" pitchFamily="34" charset="-120"/>
              </a:rPr>
              <a:t>二、RAG 檢索增強與 QLoRA 微調</a:t>
            </a:r>
            <a:endParaRPr lang="en-US" sz="2000" dirty="0"/>
          </a:p>
        </p:txBody>
      </p:sp>
      <p:sp>
        <p:nvSpPr>
          <p:cNvPr id="7" name="Text 5"/>
          <p:cNvSpPr/>
          <p:nvPr/>
        </p:nvSpPr>
        <p:spPr>
          <a:xfrm>
            <a:off x="640080" y="2514600"/>
            <a:ext cx="10972800" cy="457200"/>
          </a:xfrm>
          <a:prstGeom prst="rect">
            <a:avLst/>
          </a:prstGeom>
          <a:noFill/>
          <a:ln/>
        </p:spPr>
        <p:txBody>
          <a:bodyPr wrap="square" rtlCol="0" anchor="ctr"/>
          <a:lstStyle/>
          <a:p>
            <a:pPr marL="0" indent="0">
              <a:buNone/>
            </a:pPr>
            <a:r>
              <a:rPr lang="en-US" sz="1800" dirty="0">
                <a:solidFill>
                  <a:srgbClr val="E5E7EB"/>
                </a:solidFill>
                <a:latin typeface="Microsoft JhengHei" pitchFamily="34" charset="0"/>
                <a:ea typeface="Microsoft JhengHei" pitchFamily="34" charset="-122"/>
                <a:cs typeface="Microsoft JhengHei" pitchFamily="34" charset="-120"/>
              </a:rPr>
              <a:t>學生模型採 Qwen3-Coder-30B-A3B-Instruct，於 NF4 4-bit 量化環境完成高效微調</a:t>
            </a:r>
            <a:endParaRPr lang="en-US" sz="1800" dirty="0"/>
          </a:p>
        </p:txBody>
      </p:sp>
      <p:sp>
        <p:nvSpPr>
          <p:cNvPr id="8" name="Text 6"/>
          <p:cNvSpPr/>
          <p:nvPr/>
        </p:nvSpPr>
        <p:spPr>
          <a:xfrm>
            <a:off x="457200" y="3108960"/>
            <a:ext cx="11247120" cy="411480"/>
          </a:xfrm>
          <a:prstGeom prst="rect">
            <a:avLst/>
          </a:prstGeom>
          <a:noFill/>
          <a:ln/>
        </p:spPr>
        <p:txBody>
          <a:bodyPr wrap="square" rtlCol="0" anchor="ctr"/>
          <a:lstStyle/>
          <a:p>
            <a:pPr marL="0" indent="0">
              <a:buNone/>
            </a:pPr>
            <a:r>
              <a:rPr lang="en-US" sz="2000" b="1" dirty="0">
                <a:solidFill>
                  <a:srgbClr val="7DD3FC"/>
                </a:solidFill>
                <a:latin typeface="Microsoft JhengHei" pitchFamily="34" charset="0"/>
                <a:ea typeface="Microsoft JhengHei" pitchFamily="34" charset="-122"/>
                <a:cs typeface="Microsoft JhengHei" pitchFamily="34" charset="-120"/>
              </a:rPr>
              <a:t>三、雙重 LLM Judge 與人工評分之三層驗證</a:t>
            </a:r>
            <a:endParaRPr lang="en-US" sz="2000" dirty="0"/>
          </a:p>
        </p:txBody>
      </p:sp>
      <p:sp>
        <p:nvSpPr>
          <p:cNvPr id="9" name="Text 7"/>
          <p:cNvSpPr/>
          <p:nvPr/>
        </p:nvSpPr>
        <p:spPr>
          <a:xfrm>
            <a:off x="640080" y="3520440"/>
            <a:ext cx="10972800" cy="457200"/>
          </a:xfrm>
          <a:prstGeom prst="rect">
            <a:avLst/>
          </a:prstGeom>
          <a:noFill/>
          <a:ln/>
        </p:spPr>
        <p:txBody>
          <a:bodyPr wrap="square" rtlCol="0" anchor="ctr"/>
          <a:lstStyle/>
          <a:p>
            <a:pPr marL="0" indent="0">
              <a:buNone/>
            </a:pPr>
            <a:r>
              <a:rPr lang="en-US" sz="1800" dirty="0">
                <a:solidFill>
                  <a:srgbClr val="E5E7EB"/>
                </a:solidFill>
                <a:latin typeface="Microsoft JhengHei" pitchFamily="34" charset="0"/>
                <a:ea typeface="Microsoft JhengHei" pitchFamily="34" charset="-122"/>
                <a:cs typeface="Microsoft JhengHei" pitchFamily="34" charset="-120"/>
              </a:rPr>
              <a:t>以 CRSCORE++、</a:t>
            </a:r>
            <a:r>
              <a:rPr lang="en-US" sz="1800" dirty="0" err="1">
                <a:solidFill>
                  <a:srgbClr val="E5E7EB"/>
                </a:solidFill>
                <a:latin typeface="Microsoft JhengHei" pitchFamily="34" charset="0"/>
                <a:ea typeface="Microsoft JhengHei" pitchFamily="34" charset="-122"/>
                <a:cs typeface="Microsoft JhengHei" pitchFamily="34" charset="-120"/>
              </a:rPr>
              <a:t>本研究五維度指標與審查者人工評分共同檢驗</a:t>
            </a:r>
            <a:endParaRPr lang="en-US" sz="1800" dirty="0"/>
          </a:p>
        </p:txBody>
      </p:sp>
      <p:sp>
        <p:nvSpPr>
          <p:cNvPr id="10" name="Text 8"/>
          <p:cNvSpPr/>
          <p:nvPr/>
        </p:nvSpPr>
        <p:spPr>
          <a:xfrm>
            <a:off x="457200" y="4297680"/>
            <a:ext cx="11247120" cy="411480"/>
          </a:xfrm>
          <a:prstGeom prst="rect">
            <a:avLst/>
          </a:prstGeom>
          <a:noFill/>
          <a:ln/>
        </p:spPr>
        <p:txBody>
          <a:bodyPr wrap="square" rtlCol="0" anchor="ctr"/>
          <a:lstStyle/>
          <a:p>
            <a:pPr marL="0" indent="0">
              <a:buNone/>
            </a:pPr>
            <a:r>
              <a:rPr lang="en-US" sz="2000" b="1" dirty="0">
                <a:solidFill>
                  <a:srgbClr val="2DD4BF"/>
                </a:solidFill>
                <a:latin typeface="Microsoft JhengHei" pitchFamily="34" charset="0"/>
                <a:ea typeface="Microsoft JhengHei" pitchFamily="34" charset="-122"/>
                <a:cs typeface="Microsoft JhengHei" pitchFamily="34" charset="-120"/>
              </a:rPr>
              <a:t>主要量化成果</a:t>
            </a:r>
            <a:endParaRPr lang="en-US" sz="2000" dirty="0"/>
          </a:p>
        </p:txBody>
      </p:sp>
      <p:sp>
        <p:nvSpPr>
          <p:cNvPr id="11" name="Text 9"/>
          <p:cNvSpPr/>
          <p:nvPr/>
        </p:nvSpPr>
        <p:spPr>
          <a:xfrm>
            <a:off x="640080" y="4754880"/>
            <a:ext cx="10972800" cy="365760"/>
          </a:xfrm>
          <a:prstGeom prst="rect">
            <a:avLst/>
          </a:prstGeom>
          <a:noFill/>
          <a:ln/>
        </p:spPr>
        <p:txBody>
          <a:bodyPr wrap="square" rtlCol="0" anchor="ctr"/>
          <a:lstStyle/>
          <a:p>
            <a:pPr marL="0" indent="0">
              <a:buNone/>
            </a:pPr>
            <a:r>
              <a:rPr lang="en-US" sz="1800" dirty="0">
                <a:solidFill>
                  <a:srgbClr val="E5E7EB"/>
                </a:solidFill>
                <a:latin typeface="Microsoft JhengHei" pitchFamily="34" charset="0"/>
                <a:ea typeface="Microsoft JhengHei" pitchFamily="34" charset="-122"/>
                <a:cs typeface="Microsoft JhengHei" pitchFamily="34" charset="-120"/>
              </a:rPr>
              <a:t>• Comprehensiveness 達 </a:t>
            </a:r>
            <a:r>
              <a:rPr lang="en-US" sz="1800" b="1" dirty="0">
                <a:solidFill>
                  <a:srgbClr val="2DD4BF"/>
                </a:solidFill>
                <a:latin typeface="Microsoft JhengHei" pitchFamily="34" charset="0"/>
                <a:ea typeface="Microsoft JhengHei" pitchFamily="34" charset="-122"/>
                <a:cs typeface="Microsoft JhengHei" pitchFamily="34" charset="-120"/>
              </a:rPr>
              <a:t>0.86</a:t>
            </a:r>
            <a:r>
              <a:rPr lang="en-US" sz="1800" dirty="0">
                <a:solidFill>
                  <a:srgbClr val="E5E7EB"/>
                </a:solidFill>
                <a:latin typeface="Microsoft JhengHei" pitchFamily="34" charset="0"/>
                <a:ea typeface="Microsoft JhengHei" pitchFamily="34" charset="-122"/>
                <a:cs typeface="Microsoft JhengHei" pitchFamily="34" charset="-120"/>
              </a:rPr>
              <a:t>，CRSCORE++ 對照組為 0.67</a:t>
            </a:r>
            <a:endParaRPr lang="en-US" sz="1800" dirty="0"/>
          </a:p>
        </p:txBody>
      </p:sp>
      <p:sp>
        <p:nvSpPr>
          <p:cNvPr id="12" name="Text 10"/>
          <p:cNvSpPr/>
          <p:nvPr/>
        </p:nvSpPr>
        <p:spPr>
          <a:xfrm>
            <a:off x="640080" y="5166360"/>
            <a:ext cx="10972800" cy="365760"/>
          </a:xfrm>
          <a:prstGeom prst="rect">
            <a:avLst/>
          </a:prstGeom>
          <a:noFill/>
          <a:ln/>
        </p:spPr>
        <p:txBody>
          <a:bodyPr wrap="square" rtlCol="0" anchor="ctr"/>
          <a:lstStyle/>
          <a:p>
            <a:pPr marL="0" indent="0">
              <a:buNone/>
            </a:pPr>
            <a:r>
              <a:rPr lang="en-US" sz="1800" dirty="0">
                <a:solidFill>
                  <a:srgbClr val="E5E7EB"/>
                </a:solidFill>
                <a:latin typeface="Microsoft JhengHei" pitchFamily="34" charset="0"/>
                <a:ea typeface="Microsoft JhengHei" pitchFamily="34" charset="-122"/>
                <a:cs typeface="Microsoft JhengHei" pitchFamily="34" charset="-120"/>
              </a:rPr>
              <a:t>• Relevance 達 </a:t>
            </a:r>
            <a:r>
              <a:rPr lang="en-US" sz="1800" b="1" dirty="0">
                <a:solidFill>
                  <a:srgbClr val="2DD4BF"/>
                </a:solidFill>
                <a:latin typeface="Microsoft JhengHei" pitchFamily="34" charset="0"/>
                <a:ea typeface="Microsoft JhengHei" pitchFamily="34" charset="-122"/>
                <a:cs typeface="Microsoft JhengHei" pitchFamily="34" charset="-120"/>
              </a:rPr>
              <a:t>0.83</a:t>
            </a:r>
            <a:r>
              <a:rPr lang="en-US" sz="1800" dirty="0">
                <a:solidFill>
                  <a:srgbClr val="E5E7EB"/>
                </a:solidFill>
                <a:latin typeface="Microsoft JhengHei" pitchFamily="34" charset="0"/>
                <a:ea typeface="Microsoft JhengHei" pitchFamily="34" charset="-122"/>
                <a:cs typeface="Microsoft JhengHei" pitchFamily="34" charset="-120"/>
              </a:rPr>
              <a:t>，CRSCORE++ 對照組為 0.63</a:t>
            </a:r>
            <a:endParaRPr lang="en-US" sz="1800" dirty="0"/>
          </a:p>
        </p:txBody>
      </p:sp>
      <p:sp>
        <p:nvSpPr>
          <p:cNvPr id="14" name="Text 12"/>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2 / 21</a:t>
            </a:r>
            <a:endParaRPr lang="en-US" sz="1000" dirty="0"/>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關鍵技術概覽</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graphicFrame>
        <p:nvGraphicFramePr>
          <p:cNvPr id="5" name="Table 0"/>
          <p:cNvGraphicFramePr>
            <a:graphicFrameLocks noGrp="1"/>
          </p:cNvGraphicFramePr>
          <p:nvPr>
            <p:extLst>
              <p:ext uri="{D42A27DB-BD31-4B8C-83A1-F6EECF244321}">
                <p14:modId xmlns:p14="http://schemas.microsoft.com/office/powerpoint/2010/main" val="1929683037"/>
              </p:ext>
            </p:extLst>
          </p:nvPr>
        </p:nvGraphicFramePr>
        <p:xfrm>
          <a:off x="457200" y="1188720"/>
          <a:ext cx="11247120" cy="4535424"/>
        </p:xfrm>
        <a:graphic>
          <a:graphicData uri="http://schemas.openxmlformats.org/drawingml/2006/table">
            <a:tbl>
              <a:tblPr/>
              <a:tblGrid>
                <a:gridCol w="274320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566928">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技術</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於本研究之角色</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extLst>
                  <a:ext uri="{0D108BD9-81ED-4DB2-BD59-A6C34878D82A}">
                    <a16:rowId xmlns:a16="http://schemas.microsoft.com/office/drawing/2014/main" val="10000"/>
                  </a:ext>
                </a:extLst>
              </a:tr>
              <a:tr h="566928">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大型語言模型</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審查主體，理解程式語義與設計意圖</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思維鏈推理 (CoT)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將審查任務拆解為五階段，降低上下文負載</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2"/>
                  </a:ext>
                </a:extLst>
              </a:tr>
              <a:tr h="566928">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檢索增強生成 (RAG)</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注入專案規範與最佳實踐，降低幻覺機率</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PEFT 與 LoRA</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僅訓練不足 1% </a:t>
                      </a:r>
                      <a:r>
                        <a:rPr lang="en-US" sz="1700" dirty="0" err="1">
                          <a:solidFill>
                            <a:srgbClr val="E5E7EB"/>
                          </a:solidFill>
                          <a:latin typeface="Microsoft JhengHei" pitchFamily="34" charset="0"/>
                          <a:ea typeface="Microsoft JhengHei" pitchFamily="34" charset="-122"/>
                          <a:cs typeface="Microsoft JhengHei" pitchFamily="34" charset="-120"/>
                        </a:rPr>
                        <a:t>之參數即可逼近全參數微調效能</a:t>
                      </a:r>
                      <a:r>
                        <a:rPr lang="en-US" sz="1700" dirty="0">
                          <a:solidFill>
                            <a:srgbClr val="E5E7EB"/>
                          </a:solidFill>
                          <a:latin typeface="Microsoft JhengHei" pitchFamily="34" charset="0"/>
                          <a:ea typeface="Microsoft JhengHei" pitchFamily="34" charset="-122"/>
                          <a:cs typeface="Microsoft JhengHei" pitchFamily="34" charset="-120"/>
                        </a:rPr>
                        <a:t> </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4"/>
                  </a:ext>
                </a:extLst>
              </a:tr>
              <a:tr h="566928">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QLoRA</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採 NF4 </a:t>
                      </a:r>
                      <a:r>
                        <a:rPr lang="en-US" sz="1700" dirty="0" err="1">
                          <a:solidFill>
                            <a:srgbClr val="E5E7EB"/>
                          </a:solidFill>
                          <a:latin typeface="Microsoft JhengHei" pitchFamily="34" charset="0"/>
                          <a:ea typeface="Microsoft JhengHei" pitchFamily="34" charset="-122"/>
                          <a:cs typeface="Microsoft JhengHei" pitchFamily="34" charset="-120"/>
                        </a:rPr>
                        <a:t>四位元量化搭配雙量化，大幅壓低</a:t>
                      </a:r>
                      <a:r>
                        <a:rPr lang="zh-TW" altLang="en-US" sz="1700" dirty="0">
                          <a:solidFill>
                            <a:srgbClr val="E5E7EB"/>
                          </a:solidFill>
                          <a:latin typeface="Microsoft JhengHei" pitchFamily="34" charset="0"/>
                          <a:ea typeface="Microsoft JhengHei" pitchFamily="34" charset="-122"/>
                          <a:cs typeface="Microsoft JhengHei" pitchFamily="34" charset="-120"/>
                        </a:rPr>
                        <a:t>記憶體</a:t>
                      </a:r>
                      <a:r>
                        <a:rPr lang="en-US" sz="1700" dirty="0" err="1">
                          <a:solidFill>
                            <a:srgbClr val="E5E7EB"/>
                          </a:solidFill>
                          <a:latin typeface="Microsoft JhengHei" pitchFamily="34" charset="0"/>
                          <a:ea typeface="Microsoft JhengHei" pitchFamily="34" charset="-122"/>
                          <a:cs typeface="Microsoft JhengHei" pitchFamily="34" charset="-120"/>
                        </a:rPr>
                        <a:t>需求</a:t>
                      </a:r>
                      <a:r>
                        <a:rPr lang="en-US" sz="1700" dirty="0">
                          <a:solidFill>
                            <a:srgbClr val="E5E7EB"/>
                          </a:solidFill>
                          <a:latin typeface="Microsoft JhengHei" pitchFamily="34" charset="0"/>
                          <a:ea typeface="Microsoft JhengHei" pitchFamily="34" charset="-122"/>
                          <a:cs typeface="Microsoft JhengHei" pitchFamily="34" charset="-120"/>
                        </a:rPr>
                        <a:t> </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知識蒸餾</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由 GPT-5 </a:t>
                      </a:r>
                      <a:r>
                        <a:rPr lang="en-US" sz="1700" dirty="0" err="1">
                          <a:solidFill>
                            <a:srgbClr val="E5E7EB"/>
                          </a:solidFill>
                          <a:latin typeface="Microsoft JhengHei" pitchFamily="34" charset="0"/>
                          <a:ea typeface="Microsoft JhengHei" pitchFamily="34" charset="-122"/>
                          <a:cs typeface="Microsoft JhengHei" pitchFamily="34" charset="-120"/>
                        </a:rPr>
                        <a:t>教師模型轉移推理軌跡至學生模型</a:t>
                      </a:r>
                      <a:r>
                        <a:rPr lang="en-US" sz="1700" dirty="0">
                          <a:solidFill>
                            <a:srgbClr val="E5E7EB"/>
                          </a:solidFill>
                          <a:latin typeface="Microsoft JhengHei" pitchFamily="34" charset="0"/>
                          <a:ea typeface="Microsoft JhengHei" pitchFamily="34" charset="-122"/>
                          <a:cs typeface="Microsoft JhengHei" pitchFamily="34" charset="-120"/>
                        </a:rPr>
                        <a:t> </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6"/>
                  </a:ext>
                </a:extLst>
              </a:tr>
              <a:tr h="566928">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LLM-as-a-Judge</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取代 BLEU 與 </a:t>
                      </a:r>
                      <a:r>
                        <a:rPr lang="en-US" sz="1700" dirty="0" err="1">
                          <a:solidFill>
                            <a:srgbClr val="E5E7EB"/>
                          </a:solidFill>
                          <a:latin typeface="Microsoft JhengHei" pitchFamily="34" charset="0"/>
                          <a:ea typeface="Microsoft JhengHei" pitchFamily="34" charset="-122"/>
                          <a:cs typeface="Microsoft JhengHei" pitchFamily="34" charset="-120"/>
                        </a:rPr>
                        <a:t>ROUGE，量化語義層審查品質</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Text 2"/>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4 / 21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文獻定位</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graphicFrame>
        <p:nvGraphicFramePr>
          <p:cNvPr id="6" name="Table 0"/>
          <p:cNvGraphicFramePr>
            <a:graphicFrameLocks noGrp="1"/>
          </p:cNvGraphicFramePr>
          <p:nvPr>
            <p:extLst>
              <p:ext uri="{D42A27DB-BD31-4B8C-83A1-F6EECF244321}">
                <p14:modId xmlns:p14="http://schemas.microsoft.com/office/powerpoint/2010/main" val="1992218551"/>
              </p:ext>
            </p:extLst>
          </p:nvPr>
        </p:nvGraphicFramePr>
        <p:xfrm>
          <a:off x="457200" y="1188720"/>
          <a:ext cx="11247120" cy="3017520"/>
        </p:xfrm>
        <a:graphic>
          <a:graphicData uri="http://schemas.openxmlformats.org/drawingml/2006/table">
            <a:tbl>
              <a:tblPr/>
              <a:tblGrid>
                <a:gridCol w="33832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502920">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研究</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多階段 CoT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RAG</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微調</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Judge 維度</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extLst>
                  <a:ext uri="{0D108BD9-81ED-4DB2-BD59-A6C34878D82A}">
                    <a16:rowId xmlns:a16="http://schemas.microsoft.com/office/drawing/2014/main" val="10000"/>
                  </a:ext>
                </a:extLst>
              </a:tr>
              <a:tr h="50292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LLaMA-Reviewer [16]</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 LoRA</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傳統指標</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CRScore [7]</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altLang="zh-TW" sz="1700" dirty="0">
                          <a:solidFill>
                            <a:srgbClr val="E5E7EB"/>
                          </a:solidFill>
                          <a:latin typeface="Microsoft JhengHei" pitchFamily="34" charset="0"/>
                          <a:ea typeface="Microsoft JhengHei" pitchFamily="34" charset="-122"/>
                          <a:cs typeface="Microsoft JhengHei" pitchFamily="34" charset="-120"/>
                        </a:rPr>
                        <a:t>✓ </a:t>
                      </a:r>
                      <a:r>
                        <a:rPr lang="en-US" altLang="zh-TW" sz="1700" dirty="0" err="1">
                          <a:solidFill>
                            <a:srgbClr val="E5E7EB"/>
                          </a:solidFill>
                          <a:latin typeface="Microsoft JhengHei" pitchFamily="34" charset="0"/>
                          <a:ea typeface="Microsoft JhengHei" pitchFamily="34" charset="-122"/>
                          <a:cs typeface="Microsoft JhengHei" pitchFamily="34" charset="-120"/>
                        </a:rPr>
                        <a:t>LoRA</a:t>
                      </a:r>
                      <a:endParaRPr lang="en-US" altLang="zh-TW"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三維度 LLM Judge</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2"/>
                  </a:ext>
                </a:extLst>
              </a:tr>
              <a:tr h="50292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CRScore++ [10]</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altLang="zh-TW" sz="1700" dirty="0">
                          <a:solidFill>
                            <a:srgbClr val="E5E7EB"/>
                          </a:solidFill>
                          <a:latin typeface="Microsoft JhengHei" pitchFamily="34" charset="0"/>
                          <a:ea typeface="Microsoft JhengHei" pitchFamily="34" charset="-122"/>
                          <a:cs typeface="Microsoft JhengHei" pitchFamily="34" charset="-120"/>
                        </a:rPr>
                        <a:t>✓ </a:t>
                      </a:r>
                      <a:r>
                        <a:rPr lang="en-US" altLang="zh-TW" sz="1700" dirty="0" err="1">
                          <a:solidFill>
                            <a:srgbClr val="E5E7EB"/>
                          </a:solidFill>
                          <a:latin typeface="Microsoft JhengHei" pitchFamily="34" charset="0"/>
                          <a:ea typeface="Microsoft JhengHei" pitchFamily="34" charset="-122"/>
                          <a:cs typeface="Microsoft JhengHei" pitchFamily="34" charset="-120"/>
                        </a:rPr>
                        <a:t>LoRA</a:t>
                      </a:r>
                      <a:endParaRPr lang="en-US" altLang="zh-TW"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三維度 + RL</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Yang &amp; Chen [12]</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單維度</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4"/>
                  </a:ext>
                </a:extLst>
              </a:tr>
              <a:tr h="502920">
                <a:tc>
                  <a:txBody>
                    <a:bodyPr/>
                    <a:lstStyle/>
                    <a:p>
                      <a:pPr marL="0" indent="0" algn="l">
                        <a:buNone/>
                      </a:pPr>
                      <a:r>
                        <a:rPr lang="en-US" sz="1700" b="1">
                          <a:solidFill>
                            <a:srgbClr val="2DD4BF"/>
                          </a:solidFill>
                          <a:latin typeface="Microsoft JhengHei" pitchFamily="34" charset="0"/>
                          <a:ea typeface="Microsoft JhengHei" pitchFamily="34" charset="-122"/>
                          <a:cs typeface="Microsoft JhengHei" pitchFamily="34" charset="-120"/>
                        </a:rPr>
                        <a:t>本研究</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 QLoRA</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三維 + 五維 + 人工</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457200" y="4206240"/>
            <a:ext cx="1124712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研究定位</a:t>
            </a:r>
            <a:endParaRPr lang="en-US" sz="2000" dirty="0"/>
          </a:p>
        </p:txBody>
      </p:sp>
      <p:sp>
        <p:nvSpPr>
          <p:cNvPr id="4" name="Text 3"/>
          <p:cNvSpPr/>
          <p:nvPr/>
        </p:nvSpPr>
        <p:spPr>
          <a:xfrm>
            <a:off x="457200" y="4617720"/>
            <a:ext cx="11247120" cy="822960"/>
          </a:xfrm>
          <a:prstGeom prst="rect">
            <a:avLst/>
          </a:prstGeom>
          <a:noFill/>
          <a:ln/>
        </p:spPr>
        <p:txBody>
          <a:bodyPr wrap="square" rtlCol="0" anchor="ctr"/>
          <a:lstStyle/>
          <a:p>
            <a:pPr marL="0" indent="0">
              <a:buNone/>
            </a:pPr>
            <a:r>
              <a:rPr lang="en-US" sz="1800" dirty="0">
                <a:solidFill>
                  <a:srgbClr val="E5E7EB"/>
                </a:solidFill>
                <a:latin typeface="Microsoft JhengHei" pitchFamily="34" charset="0"/>
                <a:ea typeface="Microsoft JhengHei" pitchFamily="34" charset="-122"/>
                <a:cs typeface="Microsoft JhengHei" pitchFamily="34" charset="-120"/>
              </a:rPr>
              <a:t>整合多階段思維鏈推理、檢索增強、參數高效微調與多重評估機制，建構端到端且可驗證之審查框架。</a:t>
            </a:r>
            <a:endParaRPr lang="en-US" sz="1800" dirty="0"/>
          </a:p>
        </p:txBody>
      </p:sp>
      <p:sp>
        <p:nvSpPr>
          <p:cNvPr id="7" name="Text 4"/>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5 / 21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系統總覽</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整體資料流</a:t>
            </a:r>
            <a:endParaRPr lang="en-US" sz="2000" dirty="0"/>
          </a:p>
        </p:txBody>
      </p:sp>
      <p:sp>
        <p:nvSpPr>
          <p:cNvPr id="5" name="Text 3"/>
          <p:cNvSpPr/>
          <p:nvPr/>
        </p:nvSpPr>
        <p:spPr>
          <a:xfrm>
            <a:off x="457200" y="1554480"/>
            <a:ext cx="5486400" cy="411480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輸入程式碼來源：GPT-5 與 Copilot 各半生成之 44 筆樣本</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經 FAISS 完成 RAG 規則檢索（IndexFlatIP，閾值 0.7）</a:t>
            </a:r>
            <a:endParaRPr lang="en-US" sz="1700" dirty="0"/>
          </a:p>
          <a:p>
            <a:pPr marL="342900" indent="-342900">
              <a:spcAft>
                <a:spcPts val="400"/>
              </a:spcAft>
              <a:buSzPct val="100000"/>
              <a:buChar char="●"/>
            </a:pPr>
            <a:r>
              <a:rPr lang="en-US" sz="1700" dirty="0" err="1">
                <a:solidFill>
                  <a:srgbClr val="E5E7EB"/>
                </a:solidFill>
                <a:latin typeface="Microsoft JhengHei" pitchFamily="34" charset="0"/>
                <a:ea typeface="Microsoft JhengHei" pitchFamily="34" charset="-122"/>
                <a:cs typeface="Microsoft JhengHei" pitchFamily="34" charset="-120"/>
              </a:rPr>
              <a:t>交由</a:t>
            </a:r>
            <a:r>
              <a:rPr lang="zh-TW" altLang="en-US" sz="1700" dirty="0">
                <a:solidFill>
                  <a:srgbClr val="E5E7EB"/>
                </a:solidFill>
                <a:latin typeface="Microsoft JhengHei" pitchFamily="34" charset="0"/>
                <a:ea typeface="Microsoft JhengHei" pitchFamily="34" charset="-122"/>
                <a:cs typeface="Microsoft JhengHei" pitchFamily="34" charset="-120"/>
              </a:rPr>
              <a:t>兩</a:t>
            </a:r>
            <a:r>
              <a:rPr lang="en-US" sz="1700" dirty="0" err="1">
                <a:solidFill>
                  <a:srgbClr val="E5E7EB"/>
                </a:solidFill>
                <a:latin typeface="Microsoft JhengHei" pitchFamily="34" charset="0"/>
                <a:ea typeface="Microsoft JhengHei" pitchFamily="34" charset="-122"/>
                <a:cs typeface="Microsoft JhengHei" pitchFamily="34" charset="-120"/>
              </a:rPr>
              <a:t>條審查：CoT、單提示詞</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以 GPT-5 + Gemini-3 雙 Judge </a:t>
            </a:r>
            <a:r>
              <a:rPr lang="en-US" sz="1700" dirty="0" err="1">
                <a:solidFill>
                  <a:srgbClr val="E5E7EB"/>
                </a:solidFill>
                <a:latin typeface="Microsoft JhengHei" pitchFamily="34" charset="0"/>
                <a:ea typeface="Microsoft JhengHei" pitchFamily="34" charset="-122"/>
                <a:cs typeface="Microsoft JhengHei" pitchFamily="34" charset="-120"/>
              </a:rPr>
              <a:t>並輔以審查者人工評分</a:t>
            </a:r>
            <a:endParaRPr lang="en-US" sz="1700" dirty="0"/>
          </a:p>
        </p:txBody>
      </p:sp>
      <p:pic>
        <p:nvPicPr>
          <p:cNvPr id="6" name="Image 0"/>
          <p:cNvPicPr>
            <a:picLocks noChangeAspect="1"/>
          </p:cNvPicPr>
          <p:nvPr/>
        </p:nvPicPr>
        <p:blipFill>
          <a:blip r:embed="rId3"/>
          <a:srcRect/>
          <a:stretch/>
        </p:blipFill>
        <p:spPr>
          <a:xfrm>
            <a:off x="6878320" y="1097280"/>
            <a:ext cx="3926318" cy="5635092"/>
          </a:xfrm>
          <a:prstGeom prst="rect">
            <a:avLst/>
          </a:prstGeom>
          <a:solidFill>
            <a:schemeClr val="bg1"/>
          </a:solidFill>
        </p:spPr>
      </p:pic>
      <p:sp>
        <p:nvSpPr>
          <p:cNvPr id="7" name="Text 4"/>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6 / 21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知識蒸餾與 QLoRA 訓練流程</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訓練設計要點</a:t>
            </a:r>
            <a:endParaRPr lang="en-US" sz="2000" dirty="0"/>
          </a:p>
        </p:txBody>
      </p:sp>
      <p:sp>
        <p:nvSpPr>
          <p:cNvPr id="5" name="Text 3"/>
          <p:cNvSpPr/>
          <p:nvPr/>
        </p:nvSpPr>
        <p:spPr>
          <a:xfrm>
            <a:off x="457200" y="1554480"/>
            <a:ext cx="5486400" cy="411480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教師模型：GPT-5 ，透過 CoT 提示產生高品質樣本</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學生模型：Qwen3-Coder-30B-A3B-Instruct</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QLoRA：NF4 四位元量化、雙量化、bf16 運算、分頁優化器</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LoRA 配置：r=64、α=64、dropout=0.1</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注入層：q、k、v、o 與 gate、up、down_proj</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Label Masking：提示部分標記為 −100，僅答案參與損失計算</a:t>
            </a:r>
            <a:endParaRPr lang="en-US" sz="1600" dirty="0"/>
          </a:p>
        </p:txBody>
      </p:sp>
      <p:pic>
        <p:nvPicPr>
          <p:cNvPr id="6" name="Image 0"/>
          <p:cNvPicPr>
            <a:picLocks noChangeAspect="1"/>
          </p:cNvPicPr>
          <p:nvPr/>
        </p:nvPicPr>
        <p:blipFill>
          <a:blip r:embed="rId3"/>
          <a:srcRect/>
          <a:stretch/>
        </p:blipFill>
        <p:spPr>
          <a:xfrm>
            <a:off x="7267912" y="1097280"/>
            <a:ext cx="3569295" cy="5029200"/>
          </a:xfrm>
          <a:prstGeom prst="rect">
            <a:avLst/>
          </a:prstGeom>
          <a:solidFill>
            <a:schemeClr val="bg1"/>
          </a:solidFill>
        </p:spPr>
      </p:pic>
      <p:sp>
        <p:nvSpPr>
          <p:cNvPr id="7" name="Text 4"/>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7 / 21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多階段 CoT 審查流程</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五階段與對應產出</a:t>
            </a:r>
            <a:endParaRPr lang="en-US" sz="2000" dirty="0"/>
          </a:p>
        </p:txBody>
      </p:sp>
      <p:sp>
        <p:nvSpPr>
          <p:cNvPr id="5" name="Text 3"/>
          <p:cNvSpPr/>
          <p:nvPr/>
        </p:nvSpPr>
        <p:spPr>
          <a:xfrm>
            <a:off x="457200" y="1554480"/>
            <a:ext cx="5486400" cy="274320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first_summary_result.md — 變更摘要與影響範圍</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first_code_review_result.md — 可讀性、命名、邏輯</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linter_result.md — 規則識別碼、嚴重度、行號</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code_smell_result.md — 異味類型、位置、優先級</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total_summary_result.md — 綜合判斷與合併建議</a:t>
            </a:r>
            <a:endParaRPr lang="en-US" sz="1600" dirty="0"/>
          </a:p>
        </p:txBody>
      </p:sp>
      <p:sp>
        <p:nvSpPr>
          <p:cNvPr id="6" name="Text 4"/>
          <p:cNvSpPr/>
          <p:nvPr/>
        </p:nvSpPr>
        <p:spPr>
          <a:xfrm>
            <a:off x="457200" y="42976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拆解之必要性</a:t>
            </a:r>
            <a:endParaRPr lang="en-US" sz="2000" dirty="0"/>
          </a:p>
        </p:txBody>
      </p:sp>
      <p:sp>
        <p:nvSpPr>
          <p:cNvPr id="7" name="Text 5"/>
          <p:cNvSpPr/>
          <p:nvPr/>
        </p:nvSpPr>
        <p:spPr>
          <a:xfrm>
            <a:off x="457200" y="4754880"/>
            <a:ext cx="5486400" cy="164592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中間產物可追蹤、支援人工介入</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降低單階段認知負擔</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各階段模組可獨立 A/B 測試與替換</a:t>
            </a:r>
            <a:endParaRPr lang="en-US" sz="1600" dirty="0"/>
          </a:p>
        </p:txBody>
      </p:sp>
      <p:pic>
        <p:nvPicPr>
          <p:cNvPr id="8" name="Image 0"/>
          <p:cNvPicPr>
            <a:picLocks noChangeAspect="1"/>
          </p:cNvPicPr>
          <p:nvPr/>
        </p:nvPicPr>
        <p:blipFill>
          <a:blip r:embed="rId3"/>
          <a:srcRect/>
          <a:stretch/>
        </p:blipFill>
        <p:spPr>
          <a:xfrm>
            <a:off x="7094882" y="1097280"/>
            <a:ext cx="3611884" cy="5598160"/>
          </a:xfrm>
          <a:prstGeom prst="rect">
            <a:avLst/>
          </a:prstGeom>
          <a:solidFill>
            <a:schemeClr val="bg1"/>
          </a:solidFill>
        </p:spPr>
      </p:pic>
      <p:sp>
        <p:nvSpPr>
          <p:cNvPr id="9" name="Text 6"/>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8 / 21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RAG 機制</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檢索設定</a:t>
            </a:r>
            <a:endParaRPr lang="en-US" sz="2000" dirty="0"/>
          </a:p>
        </p:txBody>
      </p:sp>
      <p:sp>
        <p:nvSpPr>
          <p:cNvPr id="5" name="Text 3"/>
          <p:cNvSpPr/>
          <p:nvPr/>
        </p:nvSpPr>
        <p:spPr>
          <a:xfrm>
            <a:off x="457200" y="1554480"/>
            <a:ext cx="5486400" cy="274320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索引結構：FAISS IndexFlatIP</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向量化：L2 正規化後計算餘弦相似度</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嵌入模型：Qwen3-Embedding-4B</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最大序列長度：2048</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相關度閾值：0.7</a:t>
            </a:r>
            <a:endParaRPr lang="en-US" sz="1700" dirty="0"/>
          </a:p>
        </p:txBody>
      </p:sp>
      <p:sp>
        <p:nvSpPr>
          <p:cNvPr id="6" name="Text 4"/>
          <p:cNvSpPr/>
          <p:nvPr/>
        </p:nvSpPr>
        <p:spPr>
          <a:xfrm>
            <a:off x="621792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注入機制</a:t>
            </a:r>
            <a:endParaRPr lang="en-US" sz="2000" dirty="0"/>
          </a:p>
        </p:txBody>
      </p:sp>
      <p:sp>
        <p:nvSpPr>
          <p:cNvPr id="7" name="Text 5"/>
          <p:cNvSpPr/>
          <p:nvPr/>
        </p:nvSpPr>
        <p:spPr>
          <a:xfrm>
            <a:off x="6217920" y="1554480"/>
            <a:ext cx="5486400" cy="274320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檢索結果注入 global_rule 提示詞之 {rag_rules_section} 欄位</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各階段獨立檢索，避免跨階段資訊污染</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規則來源：專案規範、最佳實踐、歷史審查紀錄</a:t>
            </a:r>
            <a:endParaRPr lang="en-US" sz="1700" dirty="0"/>
          </a:p>
        </p:txBody>
      </p:sp>
      <p:sp>
        <p:nvSpPr>
          <p:cNvPr id="8" name="Shape 6"/>
          <p:cNvSpPr/>
          <p:nvPr/>
        </p:nvSpPr>
        <p:spPr>
          <a:xfrm>
            <a:off x="457200" y="4572000"/>
            <a:ext cx="11247120" cy="1463040"/>
          </a:xfrm>
          <a:prstGeom prst="rect">
            <a:avLst/>
          </a:prstGeom>
          <a:solidFill>
            <a:srgbClr val="2D2A14"/>
          </a:solidFill>
          <a:ln w="12700">
            <a:solidFill>
              <a:srgbClr val="E65100"/>
            </a:solidFill>
            <a:prstDash val="solid"/>
          </a:ln>
        </p:spPr>
        <p:txBody>
          <a:bodyPr/>
          <a:lstStyle/>
          <a:p>
            <a:endParaRPr/>
          </a:p>
        </p:txBody>
      </p:sp>
      <p:sp>
        <p:nvSpPr>
          <p:cNvPr id="9" name="Text 7"/>
          <p:cNvSpPr/>
          <p:nvPr/>
        </p:nvSpPr>
        <p:spPr>
          <a:xfrm>
            <a:off x="640080" y="4663440"/>
            <a:ext cx="10972800" cy="411480"/>
          </a:xfrm>
          <a:prstGeom prst="rect">
            <a:avLst/>
          </a:prstGeom>
          <a:noFill/>
          <a:ln/>
        </p:spPr>
        <p:txBody>
          <a:bodyPr wrap="square" rtlCol="0" anchor="ctr"/>
          <a:lstStyle/>
          <a:p>
            <a:pPr marL="0" indent="0">
              <a:buNone/>
            </a:pPr>
            <a:r>
              <a:rPr lang="en-US" sz="2000" b="1" dirty="0">
                <a:solidFill>
                  <a:srgbClr val="FDBA74"/>
                </a:solidFill>
                <a:latin typeface="Microsoft JhengHei" pitchFamily="34" charset="0"/>
                <a:ea typeface="Microsoft JhengHei" pitchFamily="34" charset="-122"/>
                <a:cs typeface="Microsoft JhengHei" pitchFamily="34" charset="-120"/>
              </a:rPr>
              <a:t>設計效益</a:t>
            </a:r>
            <a:endParaRPr lang="en-US" sz="2000" dirty="0"/>
          </a:p>
        </p:txBody>
      </p:sp>
      <p:sp>
        <p:nvSpPr>
          <p:cNvPr id="10" name="Text 8"/>
          <p:cNvSpPr/>
          <p:nvPr/>
        </p:nvSpPr>
        <p:spPr>
          <a:xfrm>
            <a:off x="640080" y="5120640"/>
            <a:ext cx="10881360" cy="822960"/>
          </a:xfrm>
          <a:prstGeom prst="rect">
            <a:avLst/>
          </a:prstGeom>
          <a:noFill/>
          <a:ln/>
        </p:spPr>
        <p:txBody>
          <a:bodyPr wrap="square" rtlCol="0" anchor="ctr"/>
          <a:lstStyle/>
          <a:p>
            <a:pPr marL="0" indent="0">
              <a:buNone/>
            </a:pPr>
            <a:r>
              <a:rPr lang="en-US" sz="1700" dirty="0" err="1">
                <a:solidFill>
                  <a:srgbClr val="E5E7EB"/>
                </a:solidFill>
                <a:latin typeface="Microsoft JhengHei" pitchFamily="34" charset="0"/>
                <a:ea typeface="Microsoft JhengHei" pitchFamily="34" charset="-122"/>
                <a:cs typeface="Microsoft JhengHei" pitchFamily="34" charset="-120"/>
              </a:rPr>
              <a:t>有效降低幻覺、維持跨階段一致性</a:t>
            </a:r>
            <a:r>
              <a:rPr lang="zh-TW" altLang="en-US" sz="1700" dirty="0">
                <a:solidFill>
                  <a:srgbClr val="E5E7EB"/>
                </a:solidFill>
                <a:latin typeface="Microsoft JhengHei" pitchFamily="34" charset="0"/>
                <a:ea typeface="Microsoft JhengHei" pitchFamily="34" charset="-122"/>
                <a:cs typeface="Microsoft JhengHei" pitchFamily="34" charset="-120"/>
              </a:rPr>
              <a:t>，</a:t>
            </a:r>
            <a:r>
              <a:rPr lang="en-US" sz="1700" dirty="0" err="1">
                <a:solidFill>
                  <a:srgbClr val="E5E7EB"/>
                </a:solidFill>
                <a:latin typeface="Microsoft JhengHei" pitchFamily="34" charset="0"/>
                <a:ea typeface="Microsoft JhengHei" pitchFamily="34" charset="-122"/>
                <a:cs typeface="Microsoft JhengHei" pitchFamily="34" charset="-120"/>
              </a:rPr>
              <a:t>規則更新時無須重新訓練模型，可動態擴充知識來源</a:t>
            </a: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p>
        </p:txBody>
      </p:sp>
      <p:sp>
        <p:nvSpPr>
          <p:cNvPr id="11" name="Text 9"/>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9 / 21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提示詞設計</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4023360"/>
        </p:xfrm>
        <a:graphic>
          <a:graphicData uri="http://schemas.openxmlformats.org/drawingml/2006/table">
            <a:tbl>
              <a:tblPr/>
              <a:tblGrid>
                <a:gridCol w="320040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502920">
                <a:tc>
                  <a:txBody>
                    <a:bodyPr/>
                    <a:lstStyle/>
                    <a:p>
                      <a:pPr marL="0" indent="0" algn="ctr">
                        <a:buNone/>
                      </a:pPr>
                      <a:r>
                        <a:rPr lang="en-US" sz="1600" b="1" dirty="0">
                          <a:solidFill>
                            <a:srgbClr val="7DD3FC"/>
                          </a:solidFill>
                          <a:latin typeface="Microsoft JhengHei" pitchFamily="34" charset="0"/>
                          <a:ea typeface="Microsoft JhengHei" pitchFamily="34" charset="-122"/>
                          <a:cs typeface="Microsoft JhengHei" pitchFamily="34" charset="-120"/>
                        </a:rPr>
                        <a:t>模板</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600" b="1" dirty="0">
                          <a:solidFill>
                            <a:srgbClr val="7DD3FC"/>
                          </a:solidFill>
                          <a:latin typeface="Microsoft JhengHei" pitchFamily="34" charset="0"/>
                          <a:ea typeface="Microsoft JhengHei" pitchFamily="34" charset="-122"/>
                          <a:cs typeface="Microsoft JhengHei" pitchFamily="34" charset="-120"/>
                        </a:rPr>
                        <a:t>職責</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extLst>
                  <a:ext uri="{0D108BD9-81ED-4DB2-BD59-A6C34878D82A}">
                    <a16:rowId xmlns:a16="http://schemas.microsoft.com/office/drawing/2014/main" val="10000"/>
                  </a:ext>
                </a:extLst>
              </a:tr>
              <a:tr h="502920">
                <a:tc>
                  <a:txBody>
                    <a:bodyPr/>
                    <a:lstStyle/>
                    <a:p>
                      <a:pPr marL="0" indent="0" algn="l">
                        <a:buNone/>
                      </a:pPr>
                      <a:r>
                        <a:rPr lang="en-US" sz="1600" b="1" dirty="0">
                          <a:solidFill>
                            <a:srgbClr val="E5E7EB"/>
                          </a:solidFill>
                          <a:latin typeface="Microsoft JhengHei" pitchFamily="34" charset="0"/>
                          <a:ea typeface="Microsoft JhengHei" pitchFamily="34" charset="-122"/>
                          <a:cs typeface="Microsoft JhengHei" pitchFamily="34" charset="-120"/>
                        </a:rPr>
                        <a:t>global_rule</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600" dirty="0">
                          <a:solidFill>
                            <a:srgbClr val="E5E7EB"/>
                          </a:solidFill>
                          <a:latin typeface="Microsoft JhengHei" pitchFamily="34" charset="0"/>
                          <a:ea typeface="Microsoft JhengHei" pitchFamily="34" charset="-122"/>
                          <a:cs typeface="Microsoft JhengHei" pitchFamily="34" charset="-120"/>
                        </a:rPr>
                        <a:t>定義七項審查面向並動態注入 RAG 規則</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600" b="1" dirty="0">
                          <a:solidFill>
                            <a:srgbClr val="E5E7EB"/>
                          </a:solidFill>
                          <a:latin typeface="Microsoft JhengHei" pitchFamily="34" charset="0"/>
                          <a:ea typeface="Microsoft JhengHei" pitchFamily="34" charset="-122"/>
                          <a:cs typeface="Microsoft JhengHei" pitchFamily="34" charset="-120"/>
                        </a:rPr>
                        <a:t>first_summary</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600" dirty="0">
                          <a:solidFill>
                            <a:srgbClr val="E5E7EB"/>
                          </a:solidFill>
                          <a:latin typeface="Microsoft JhengHei" pitchFamily="34" charset="0"/>
                          <a:ea typeface="Microsoft JhengHei" pitchFamily="34" charset="-122"/>
                          <a:cs typeface="Microsoft JhengHei" pitchFamily="34" charset="-120"/>
                        </a:rPr>
                        <a:t>產出高層次 PR 摘要與影響範圍</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2"/>
                  </a:ext>
                </a:extLst>
              </a:tr>
              <a:tr h="502920">
                <a:tc>
                  <a:txBody>
                    <a:bodyPr/>
                    <a:lstStyle/>
                    <a:p>
                      <a:pPr marL="0" indent="0" algn="l">
                        <a:buNone/>
                      </a:pPr>
                      <a:r>
                        <a:rPr lang="en-US" sz="1600" b="1" dirty="0">
                          <a:solidFill>
                            <a:srgbClr val="E5E7EB"/>
                          </a:solidFill>
                          <a:latin typeface="Microsoft JhengHei" pitchFamily="34" charset="0"/>
                          <a:ea typeface="Microsoft JhengHei" pitchFamily="34" charset="-122"/>
                          <a:cs typeface="Microsoft JhengHei" pitchFamily="34" charset="-120"/>
                        </a:rPr>
                        <a:t>first_code_review</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600" dirty="0">
                          <a:solidFill>
                            <a:srgbClr val="E5E7EB"/>
                          </a:solidFill>
                          <a:latin typeface="Microsoft JhengHei" pitchFamily="34" charset="0"/>
                          <a:ea typeface="Microsoft JhengHei" pitchFamily="34" charset="-122"/>
                          <a:cs typeface="Microsoft JhengHei" pitchFamily="34" charset="-120"/>
                        </a:rPr>
                        <a:t>聚焦表層可讀性、命名規範與明顯錯誤</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600" b="1" dirty="0">
                          <a:solidFill>
                            <a:srgbClr val="E5E7EB"/>
                          </a:solidFill>
                          <a:latin typeface="Microsoft JhengHei" pitchFamily="34" charset="0"/>
                          <a:ea typeface="Microsoft JhengHei" pitchFamily="34" charset="-122"/>
                          <a:cs typeface="Microsoft JhengHei" pitchFamily="34" charset="-120"/>
                        </a:rPr>
                        <a:t>linter</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600" dirty="0">
                          <a:solidFill>
                            <a:srgbClr val="E5E7EB"/>
                          </a:solidFill>
                          <a:latin typeface="Microsoft JhengHei" pitchFamily="34" charset="0"/>
                          <a:ea typeface="Microsoft JhengHei" pitchFamily="34" charset="-122"/>
                          <a:cs typeface="Microsoft JhengHei" pitchFamily="34" charset="-120"/>
                        </a:rPr>
                        <a:t>規則導向檢測，輸出規則識別碼、嚴重度與行號</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4"/>
                  </a:ext>
                </a:extLst>
              </a:tr>
              <a:tr h="502920">
                <a:tc>
                  <a:txBody>
                    <a:bodyPr/>
                    <a:lstStyle/>
                    <a:p>
                      <a:pPr marL="0" indent="0" algn="l">
                        <a:buNone/>
                      </a:pPr>
                      <a:r>
                        <a:rPr lang="en-US" sz="1600" b="1" dirty="0">
                          <a:solidFill>
                            <a:srgbClr val="E5E7EB"/>
                          </a:solidFill>
                          <a:latin typeface="Microsoft JhengHei" pitchFamily="34" charset="0"/>
                          <a:ea typeface="Microsoft JhengHei" pitchFamily="34" charset="-122"/>
                          <a:cs typeface="Microsoft JhengHei" pitchFamily="34" charset="-120"/>
                        </a:rPr>
                        <a:t>code_smell_detector</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600" dirty="0">
                          <a:solidFill>
                            <a:srgbClr val="E5E7EB"/>
                          </a:solidFill>
                          <a:latin typeface="Microsoft JhengHei" pitchFamily="34" charset="0"/>
                          <a:ea typeface="Microsoft JhengHei" pitchFamily="34" charset="-122"/>
                          <a:cs typeface="Microsoft JhengHei" pitchFamily="34" charset="-120"/>
                        </a:rPr>
                        <a:t>偵測結構性異味並提出重構建議</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lgn="l">
                        <a:buNone/>
                      </a:pPr>
                      <a:r>
                        <a:rPr lang="en-US" sz="1600" b="1" dirty="0">
                          <a:solidFill>
                            <a:srgbClr val="E5E7EB"/>
                          </a:solidFill>
                          <a:latin typeface="Microsoft JhengHei" pitchFamily="34" charset="0"/>
                          <a:ea typeface="Microsoft JhengHei" pitchFamily="34" charset="-122"/>
                          <a:cs typeface="Microsoft JhengHei" pitchFamily="34" charset="-120"/>
                        </a:rPr>
                        <a:t>step_by_step_analysis</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600" dirty="0">
                          <a:solidFill>
                            <a:srgbClr val="E5E7EB"/>
                          </a:solidFill>
                          <a:latin typeface="Microsoft JhengHei" pitchFamily="34" charset="0"/>
                          <a:ea typeface="Microsoft JhengHei" pitchFamily="34" charset="-122"/>
                          <a:cs typeface="Microsoft JhengHei" pitchFamily="34" charset="-120"/>
                        </a:rPr>
                        <a:t>對 Linter 與 Code Smell 結果進行深入推理</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6"/>
                  </a:ext>
                </a:extLst>
              </a:tr>
              <a:tr h="502920">
                <a:tc>
                  <a:txBody>
                    <a:bodyPr/>
                    <a:lstStyle/>
                    <a:p>
                      <a:pPr marL="0" indent="0" algn="l">
                        <a:buNone/>
                      </a:pPr>
                      <a:r>
                        <a:rPr lang="en-US" sz="1600" b="1" dirty="0">
                          <a:solidFill>
                            <a:srgbClr val="E5E7EB"/>
                          </a:solidFill>
                          <a:latin typeface="Microsoft JhengHei" pitchFamily="34" charset="0"/>
                          <a:ea typeface="Microsoft JhengHei" pitchFamily="34" charset="-122"/>
                          <a:cs typeface="Microsoft JhengHei" pitchFamily="34" charset="-120"/>
                        </a:rPr>
                        <a:t>total_summary</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600" dirty="0">
                          <a:solidFill>
                            <a:srgbClr val="E5E7EB"/>
                          </a:solidFill>
                          <a:latin typeface="Microsoft JhengHei" pitchFamily="34" charset="0"/>
                          <a:ea typeface="Microsoft JhengHei" pitchFamily="34" charset="-122"/>
                          <a:cs typeface="Microsoft JhengHei" pitchFamily="34" charset="-120"/>
                        </a:rPr>
                        <a:t>彙整各階段結論，提出合併或修改之具體建議</a:t>
                      </a:r>
                      <a:endParaRPr lang="en-US" sz="16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457200" y="5577840"/>
            <a:ext cx="1124712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設計原則</a:t>
            </a:r>
            <a:endParaRPr lang="en-US" sz="2000" dirty="0"/>
          </a:p>
        </p:txBody>
      </p:sp>
      <p:sp>
        <p:nvSpPr>
          <p:cNvPr id="6" name="Text 3"/>
          <p:cNvSpPr/>
          <p:nvPr/>
        </p:nvSpPr>
        <p:spPr>
          <a:xfrm>
            <a:off x="457200" y="5989320"/>
            <a:ext cx="11247120" cy="457200"/>
          </a:xfrm>
          <a:prstGeom prst="rect">
            <a:avLst/>
          </a:prstGeom>
          <a:noFill/>
          <a:ln/>
        </p:spPr>
        <p:txBody>
          <a:bodyPr wrap="square" rtlCol="0" anchor="ctr"/>
          <a:lstStyle/>
          <a:p>
            <a:pPr marL="0" indent="0">
              <a:buNone/>
            </a:pPr>
            <a:r>
              <a:rPr lang="en-US" sz="1700" dirty="0" err="1">
                <a:solidFill>
                  <a:srgbClr val="E5E7EB"/>
                </a:solidFill>
                <a:latin typeface="Microsoft JhengHei" pitchFamily="34" charset="0"/>
                <a:ea typeface="Microsoft JhengHei" pitchFamily="34" charset="-122"/>
                <a:cs typeface="Microsoft JhengHei" pitchFamily="34" charset="-120"/>
              </a:rPr>
              <a:t>各模板僅負責單一任務</a:t>
            </a:r>
            <a:r>
              <a:rPr lang="en-US" sz="1700" dirty="0">
                <a:solidFill>
                  <a:srgbClr val="E5E7EB"/>
                </a:solidFill>
                <a:latin typeface="Microsoft JhengHei" pitchFamily="34" charset="0"/>
                <a:ea typeface="Microsoft JhengHei" pitchFamily="34" charset="-122"/>
                <a:cs typeface="Microsoft JhengHei" pitchFamily="34" charset="-120"/>
              </a:rPr>
              <a:t>。</a:t>
            </a:r>
            <a:endParaRPr lang="en-US" sz="1700" dirty="0"/>
          </a:p>
        </p:txBody>
      </p:sp>
      <p:sp>
        <p:nvSpPr>
          <p:cNvPr id="7" name="Text 4"/>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10 / 21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單一提示詞 vs 多階段 CoT</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2DD4BF"/>
                </a:solidFill>
                <a:latin typeface="Microsoft JhengHei" pitchFamily="34" charset="0"/>
                <a:ea typeface="Microsoft JhengHei" pitchFamily="34" charset="-122"/>
                <a:cs typeface="Microsoft JhengHei" pitchFamily="34" charset="-120"/>
              </a:rPr>
              <a:t>單一提示詞</a:t>
            </a:r>
            <a:endParaRPr lang="en-US" sz="2000" dirty="0"/>
          </a:p>
        </p:txBody>
      </p:sp>
      <p:sp>
        <p:nvSpPr>
          <p:cNvPr id="5" name="Text 3"/>
          <p:cNvSpPr/>
          <p:nvPr/>
        </p:nvSpPr>
        <p:spPr>
          <a:xfrm>
            <a:off x="457200" y="1554480"/>
            <a:ext cx="5486400" cy="320040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上下文一次注入，負載過重</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錯誤難以定位，僅能整體重跑</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無法針對單一階段替換模型</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規範資訊易遭稀釋，token 易超限</a:t>
            </a:r>
            <a:endParaRPr lang="en-US" sz="1700" dirty="0"/>
          </a:p>
        </p:txBody>
      </p:sp>
      <p:sp>
        <p:nvSpPr>
          <p:cNvPr id="6" name="Text 4"/>
          <p:cNvSpPr/>
          <p:nvPr/>
        </p:nvSpPr>
        <p:spPr>
          <a:xfrm>
            <a:off x="621792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多階段流程</a:t>
            </a:r>
            <a:endParaRPr lang="en-US" sz="2000" dirty="0"/>
          </a:p>
        </p:txBody>
      </p:sp>
      <p:sp>
        <p:nvSpPr>
          <p:cNvPr id="7" name="Text 5"/>
          <p:cNvSpPr/>
          <p:nvPr/>
        </p:nvSpPr>
        <p:spPr>
          <a:xfrm>
            <a:off x="6217920" y="1554480"/>
            <a:ext cx="5486400" cy="320040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各階段專注單一任務，輸出可追蹤</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支援人工介入修正與逐階段重跑</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每階段可獨立 A/B 測試或替換模型</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RAG 於每階段獨立檢索，資訊聚焦</a:t>
            </a:r>
            <a:endParaRPr lang="en-US" sz="1700" dirty="0"/>
          </a:p>
        </p:txBody>
      </p:sp>
      <p:sp>
        <p:nvSpPr>
          <p:cNvPr id="8" name="Shape 6"/>
          <p:cNvSpPr/>
          <p:nvPr/>
        </p:nvSpPr>
        <p:spPr>
          <a:xfrm>
            <a:off x="457200" y="5029200"/>
            <a:ext cx="11247120" cy="1097280"/>
          </a:xfrm>
          <a:prstGeom prst="rect">
            <a:avLst/>
          </a:prstGeom>
          <a:solidFill>
            <a:srgbClr val="2D2A14"/>
          </a:solidFill>
          <a:ln w="12700">
            <a:solidFill>
              <a:srgbClr val="E65100"/>
            </a:solidFill>
            <a:prstDash val="solid"/>
          </a:ln>
        </p:spPr>
        <p:txBody>
          <a:bodyPr/>
          <a:lstStyle/>
          <a:p>
            <a:endParaRPr/>
          </a:p>
        </p:txBody>
      </p:sp>
      <p:sp>
        <p:nvSpPr>
          <p:cNvPr id="9" name="Text 7"/>
          <p:cNvSpPr/>
          <p:nvPr/>
        </p:nvSpPr>
        <p:spPr>
          <a:xfrm>
            <a:off x="548640" y="5120640"/>
            <a:ext cx="11064240" cy="914400"/>
          </a:xfrm>
          <a:prstGeom prst="rect">
            <a:avLst/>
          </a:prstGeom>
          <a:noFill/>
          <a:ln/>
        </p:spPr>
        <p:txBody>
          <a:bodyPr wrap="square" rtlCol="0" anchor="ctr"/>
          <a:lstStyle/>
          <a:p>
            <a:pPr marL="0" indent="0" algn="ctr">
              <a:buNone/>
            </a:pPr>
            <a:r>
              <a:rPr lang="en-US" sz="1800" b="1" dirty="0">
                <a:solidFill>
                  <a:srgbClr val="FDBA74"/>
                </a:solidFill>
                <a:latin typeface="Microsoft JhengHei" pitchFamily="34" charset="0"/>
                <a:ea typeface="Microsoft JhengHei" pitchFamily="34" charset="-122"/>
                <a:cs typeface="Microsoft JhengHei" pitchFamily="34" charset="-120"/>
              </a:rPr>
              <a:t>後續消融實驗將以 LLM Judge 與人工評分量化上述差異。</a:t>
            </a:r>
            <a:endParaRPr lang="en-US" sz="1800" dirty="0"/>
          </a:p>
        </p:txBody>
      </p:sp>
      <p:sp>
        <p:nvSpPr>
          <p:cNvPr id="10" name="Text 8"/>
          <p:cNvSpPr/>
          <p:nvPr/>
        </p:nvSpPr>
        <p:spPr>
          <a:xfrm>
            <a:off x="10972800" y="6446520"/>
            <a:ext cx="1097280" cy="320040"/>
          </a:xfrm>
          <a:prstGeom prst="rect">
            <a:avLst/>
          </a:prstGeom>
          <a:noFill/>
          <a:ln/>
        </p:spPr>
        <p:txBody>
          <a:bodyPr wrap="square" rtlCol="0" anchor="ctr"/>
          <a:lstStyle/>
          <a:p>
            <a:pPr marL="0" indent="0" algn="r">
              <a:buNone/>
            </a:pPr>
            <a:r>
              <a:rPr lang="en-US" sz="1000" dirty="0">
                <a:solidFill>
                  <a:srgbClr val="9CA3AF"/>
                </a:solidFill>
                <a:latin typeface="Microsoft JhengHei" pitchFamily="34" charset="0"/>
                <a:ea typeface="Microsoft JhengHei" pitchFamily="34" charset="-122"/>
                <a:cs typeface="Microsoft JhengHei" pitchFamily="34" charset="-120"/>
              </a:rPr>
              <a:t>11 / 21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實驗設計</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測試資料集</a:t>
            </a:r>
            <a:endParaRPr lang="en-US" sz="2000" dirty="0"/>
          </a:p>
        </p:txBody>
      </p:sp>
      <p:sp>
        <p:nvSpPr>
          <p:cNvPr id="5" name="Text 3"/>
          <p:cNvSpPr/>
          <p:nvPr/>
        </p:nvSpPr>
        <p:spPr>
          <a:xfrm>
            <a:off x="457200" y="1554480"/>
            <a:ext cx="5486400" cy="164592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共計 44 筆測試資料</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GPT-5 與 Copilot 各半生成，經人工驗證</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涵蓋多類錯誤，避免單一模型風格偏差</a:t>
            </a:r>
            <a:endParaRPr lang="en-US" sz="1600" dirty="0"/>
          </a:p>
        </p:txBody>
      </p:sp>
      <p:sp>
        <p:nvSpPr>
          <p:cNvPr id="6" name="Text 4"/>
          <p:cNvSpPr/>
          <p:nvPr/>
        </p:nvSpPr>
        <p:spPr>
          <a:xfrm>
            <a:off x="457200" y="329184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硬體環境</a:t>
            </a:r>
            <a:endParaRPr lang="en-US" sz="2000" dirty="0"/>
          </a:p>
        </p:txBody>
      </p:sp>
      <p:sp>
        <p:nvSpPr>
          <p:cNvPr id="7" name="Text 5"/>
          <p:cNvSpPr/>
          <p:nvPr/>
        </p:nvSpPr>
        <p:spPr>
          <a:xfrm>
            <a:off x="457200" y="3749040"/>
            <a:ext cx="5486400" cy="164592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NVIDIA L40S × 2，合計 96 GB VRAM</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Intel Xeon Gold 6526Y × 2</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512 GB DDR5 ECC 記憶體</a:t>
            </a:r>
            <a:endParaRPr lang="en-US" sz="1600" dirty="0"/>
          </a:p>
        </p:txBody>
      </p:sp>
      <p:sp>
        <p:nvSpPr>
          <p:cNvPr id="8" name="Text 6"/>
          <p:cNvSpPr/>
          <p:nvPr/>
        </p:nvSpPr>
        <p:spPr>
          <a:xfrm>
            <a:off x="6217920" y="1097280"/>
            <a:ext cx="5486400" cy="411480"/>
          </a:xfrm>
          <a:prstGeom prst="rect">
            <a:avLst/>
          </a:prstGeom>
          <a:noFill/>
          <a:ln/>
        </p:spPr>
        <p:txBody>
          <a:bodyPr wrap="square" rtlCol="0" anchor="ctr"/>
          <a:lstStyle/>
          <a:p>
            <a:pPr marL="0" indent="0">
              <a:buNone/>
            </a:pPr>
            <a:r>
              <a:rPr lang="en-US" sz="2000" b="1" dirty="0" err="1">
                <a:solidFill>
                  <a:srgbClr val="86EFAC"/>
                </a:solidFill>
                <a:latin typeface="Microsoft JhengHei" pitchFamily="34" charset="0"/>
                <a:ea typeface="Microsoft JhengHei" pitchFamily="34" charset="-122"/>
                <a:cs typeface="Microsoft JhengHei" pitchFamily="34" charset="-120"/>
              </a:rPr>
              <a:t>比較</a:t>
            </a:r>
            <a:endParaRPr lang="en-US" sz="2000" dirty="0"/>
          </a:p>
        </p:txBody>
      </p:sp>
      <p:sp>
        <p:nvSpPr>
          <p:cNvPr id="9" name="Text 7"/>
          <p:cNvSpPr/>
          <p:nvPr/>
        </p:nvSpPr>
        <p:spPr>
          <a:xfrm>
            <a:off x="6217920" y="1554480"/>
            <a:ext cx="5486400" cy="164592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單一提示詞（基準）</a:t>
            </a:r>
            <a:endParaRPr lang="en-US" sz="1600" dirty="0"/>
          </a:p>
          <a:p>
            <a:pPr marL="342900" indent="-342900">
              <a:spcAft>
                <a:spcPts val="400"/>
              </a:spcAft>
              <a:buSzPct val="100000"/>
              <a:buChar char="●"/>
            </a:pPr>
            <a:r>
              <a:rPr lang="en-US" sz="1600" dirty="0" err="1">
                <a:solidFill>
                  <a:srgbClr val="E5E7EB"/>
                </a:solidFill>
                <a:latin typeface="Microsoft JhengHei" pitchFamily="34" charset="0"/>
                <a:ea typeface="Microsoft JhengHei" pitchFamily="34" charset="-122"/>
                <a:cs typeface="Microsoft JhengHei" pitchFamily="34" charset="-120"/>
              </a:rPr>
              <a:t>本研究之</a:t>
            </a:r>
            <a:r>
              <a:rPr lang="en-US" sz="1600" dirty="0">
                <a:solidFill>
                  <a:srgbClr val="E5E7EB"/>
                </a:solidFill>
                <a:latin typeface="Microsoft JhengHei" pitchFamily="34" charset="0"/>
                <a:ea typeface="Microsoft JhengHei" pitchFamily="34" charset="-122"/>
                <a:cs typeface="Microsoft JhengHei" pitchFamily="34" charset="-120"/>
              </a:rPr>
              <a:t> CoT 管線</a:t>
            </a:r>
            <a:endParaRPr lang="en-US" sz="1600" dirty="0"/>
          </a:p>
        </p:txBody>
      </p:sp>
      <p:sp>
        <p:nvSpPr>
          <p:cNvPr id="10" name="Text 8"/>
          <p:cNvSpPr/>
          <p:nvPr/>
        </p:nvSpPr>
        <p:spPr>
          <a:xfrm>
            <a:off x="6217920" y="329184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Judge 模型與人工評分</a:t>
            </a:r>
            <a:endParaRPr lang="en-US" sz="2000" dirty="0"/>
          </a:p>
        </p:txBody>
      </p:sp>
      <p:sp>
        <p:nvSpPr>
          <p:cNvPr id="11" name="Text 9"/>
          <p:cNvSpPr/>
          <p:nvPr/>
        </p:nvSpPr>
        <p:spPr>
          <a:xfrm>
            <a:off x="6217920" y="3749040"/>
            <a:ext cx="5486400" cy="164592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GPT-5 與 Gemini-3 雙 Judge，降低單模型偏差</a:t>
            </a:r>
            <a:endParaRPr lang="en-US" sz="1600" dirty="0"/>
          </a:p>
          <a:p>
            <a:pPr marL="342900" indent="-342900">
              <a:spcAft>
                <a:spcPts val="400"/>
              </a:spcAft>
              <a:buSzPct val="100000"/>
              <a:buChar char="●"/>
            </a:pPr>
            <a:r>
              <a:rPr lang="en-US" sz="1600" dirty="0" err="1">
                <a:solidFill>
                  <a:srgbClr val="E5E7EB"/>
                </a:solidFill>
                <a:latin typeface="Microsoft JhengHei" pitchFamily="34" charset="0"/>
                <a:ea typeface="Microsoft JhengHei" pitchFamily="34" charset="-122"/>
                <a:cs typeface="Microsoft JhengHei" pitchFamily="34" charset="-120"/>
              </a:rPr>
              <a:t>人工評分由審查者依百分制評分</a:t>
            </a:r>
            <a:endParaRPr lang="en-US" sz="1600" dirty="0"/>
          </a:p>
        </p:txBody>
      </p:sp>
      <p:sp>
        <p:nvSpPr>
          <p:cNvPr id="12" name="Text 10"/>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12 / 21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zh-TW" altLang="en-US" sz="2800" b="1">
                <a:solidFill>
                  <a:srgbClr val="7DD3FC"/>
                </a:solidFill>
                <a:latin typeface="Microsoft JhengHei" pitchFamily="34" charset="0"/>
                <a:ea typeface="Microsoft JhengHei" pitchFamily="34" charset="-122"/>
                <a:cs typeface="Microsoft JhengHei" pitchFamily="34" charset="-120"/>
              </a:rPr>
              <a:t>研究問題</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8" name="Text 5"/>
          <p:cNvSpPr/>
          <p:nvPr/>
        </p:nvSpPr>
        <p:spPr>
          <a:xfrm>
            <a:off x="10972800" y="6446520"/>
            <a:ext cx="1097280" cy="320040"/>
          </a:xfrm>
          <a:prstGeom prst="rect">
            <a:avLst/>
          </a:prstGeom>
          <a:noFill/>
          <a:ln/>
        </p:spPr>
        <p:txBody>
          <a:bodyPr wrap="square" rtlCol="0" anchor="ctr"/>
          <a:lstStyle/>
          <a:p>
            <a:pPr marL="0" indent="0" algn="r">
              <a:buNone/>
            </a:pPr>
            <a:r>
              <a:rPr lang="en-US" sz="1000" dirty="0">
                <a:solidFill>
                  <a:srgbClr val="9CA3AF"/>
                </a:solidFill>
                <a:latin typeface="Microsoft JhengHei" pitchFamily="34" charset="0"/>
                <a:ea typeface="Microsoft JhengHei" pitchFamily="34" charset="-122"/>
                <a:cs typeface="Microsoft JhengHei" pitchFamily="34" charset="-120"/>
              </a:rPr>
              <a:t>3 / 21</a:t>
            </a:r>
            <a:endParaRPr lang="en-US" sz="1000" dirty="0"/>
          </a:p>
        </p:txBody>
      </p:sp>
      <p:sp>
        <p:nvSpPr>
          <p:cNvPr id="5" name="Text 3">
            <a:extLst>
              <a:ext uri="{FF2B5EF4-FFF2-40B4-BE49-F238E27FC236}">
                <a16:creationId xmlns:a16="http://schemas.microsoft.com/office/drawing/2014/main" id="{5F477F25-855F-4A14-B8F3-8F6450F6358F}"/>
              </a:ext>
            </a:extLst>
          </p:cNvPr>
          <p:cNvSpPr/>
          <p:nvPr/>
        </p:nvSpPr>
        <p:spPr>
          <a:xfrm>
            <a:off x="457199" y="1241212"/>
            <a:ext cx="11345333" cy="5205279"/>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標楷體" panose="03000509000000000000" pitchFamily="65" charset="-120"/>
                <a:ea typeface="標楷體" panose="03000509000000000000" pitchFamily="65" charset="-120"/>
              </a:rPr>
              <a:t>RQ1: </a:t>
            </a:r>
            <a:r>
              <a:rPr lang="zh-TW" altLang="en-US" sz="1700" dirty="0">
                <a:solidFill>
                  <a:srgbClr val="E5E7EB"/>
                </a:solidFill>
                <a:latin typeface="標楷體" panose="03000509000000000000" pitchFamily="65" charset="-120"/>
                <a:ea typeface="標楷體" panose="03000509000000000000" pitchFamily="65" charset="-120"/>
              </a:rPr>
              <a:t>更改為多階段提示詞跟微調後是否結果更好</a:t>
            </a:r>
            <a:r>
              <a:rPr lang="en-US" altLang="zh-TW" sz="1700" dirty="0">
                <a:solidFill>
                  <a:srgbClr val="E5E7EB"/>
                </a:solidFill>
                <a:latin typeface="標楷體" panose="03000509000000000000" pitchFamily="65" charset="-120"/>
                <a:ea typeface="標楷體" panose="03000509000000000000" pitchFamily="65" charset="-120"/>
              </a:rPr>
              <a:t>?</a:t>
            </a:r>
            <a:endParaRPr lang="en-US" sz="1700" dirty="0">
              <a:latin typeface="標楷體" panose="03000509000000000000" pitchFamily="65" charset="-120"/>
              <a:ea typeface="標楷體" panose="03000509000000000000" pitchFamily="65" charset="-120"/>
            </a:endParaRPr>
          </a:p>
          <a:p>
            <a:pPr marL="342900" indent="-342900">
              <a:spcAft>
                <a:spcPts val="400"/>
              </a:spcAft>
              <a:buSzPct val="100000"/>
              <a:buChar char="●"/>
            </a:pPr>
            <a:endParaRPr lang="en-US" sz="1700" dirty="0">
              <a:latin typeface="標楷體" panose="03000509000000000000" pitchFamily="65" charset="-120"/>
              <a:ea typeface="標楷體" panose="03000509000000000000" pitchFamily="65" charset="-120"/>
            </a:endParaRPr>
          </a:p>
          <a:p>
            <a:pPr marL="342900" indent="-342900">
              <a:spcAft>
                <a:spcPts val="400"/>
              </a:spcAft>
              <a:buSzPct val="100000"/>
              <a:buChar char="●"/>
            </a:pPr>
            <a:r>
              <a:rPr lang="en-US" sz="1700" dirty="0">
                <a:solidFill>
                  <a:srgbClr val="E5E7EB"/>
                </a:solidFill>
                <a:latin typeface="標楷體" panose="03000509000000000000" pitchFamily="65" charset="-120"/>
                <a:ea typeface="標楷體" panose="03000509000000000000" pitchFamily="65" charset="-120"/>
              </a:rPr>
              <a:t>RQ2: </a:t>
            </a:r>
            <a:r>
              <a:rPr lang="zh-TW" altLang="en-US" sz="1700" dirty="0">
                <a:solidFill>
                  <a:srgbClr val="E5E7EB"/>
                </a:solidFill>
                <a:latin typeface="標楷體" panose="03000509000000000000" pitchFamily="65" charset="-120"/>
                <a:ea typeface="標楷體" panose="03000509000000000000" pitchFamily="65" charset="-120"/>
              </a:rPr>
              <a:t>在相同參數量的模型下用多階段提示詞是否結果更好</a:t>
            </a:r>
            <a:r>
              <a:rPr lang="en-US" altLang="zh-TW" sz="1700" dirty="0">
                <a:solidFill>
                  <a:srgbClr val="E5E7EB"/>
                </a:solidFill>
                <a:latin typeface="標楷體" panose="03000509000000000000" pitchFamily="65" charset="-120"/>
                <a:ea typeface="標楷體" panose="03000509000000000000" pitchFamily="65" charset="-120"/>
              </a:rPr>
              <a:t>?</a:t>
            </a:r>
            <a:endParaRPr lang="en-US" sz="1700" dirty="0">
              <a:latin typeface="標楷體" panose="03000509000000000000" pitchFamily="65" charset="-120"/>
              <a:ea typeface="標楷體" panose="03000509000000000000" pitchFamily="65" charset="-120"/>
            </a:endParaRPr>
          </a:p>
          <a:p>
            <a:pPr marL="342900" indent="-342900">
              <a:spcAft>
                <a:spcPts val="400"/>
              </a:spcAft>
              <a:buSzPct val="100000"/>
              <a:buChar char="●"/>
            </a:pPr>
            <a:endParaRPr lang="en-US" sz="1700" dirty="0">
              <a:latin typeface="標楷體" panose="03000509000000000000" pitchFamily="65" charset="-120"/>
              <a:ea typeface="標楷體" panose="03000509000000000000" pitchFamily="65" charset="-120"/>
            </a:endParaRPr>
          </a:p>
          <a:p>
            <a:pPr marL="342900" indent="-342900">
              <a:spcAft>
                <a:spcPts val="400"/>
              </a:spcAft>
              <a:buSzPct val="100000"/>
              <a:buChar char="●"/>
            </a:pPr>
            <a:r>
              <a:rPr lang="en-US" sz="1700" dirty="0">
                <a:solidFill>
                  <a:srgbClr val="E5E7EB"/>
                </a:solidFill>
                <a:latin typeface="標楷體" panose="03000509000000000000" pitchFamily="65" charset="-120"/>
                <a:ea typeface="標楷體" panose="03000509000000000000" pitchFamily="65" charset="-120"/>
              </a:rPr>
              <a:t>RQ3: </a:t>
            </a:r>
            <a:r>
              <a:rPr lang="zh-TW" altLang="en-US" sz="1700" dirty="0">
                <a:solidFill>
                  <a:srgbClr val="E5E7EB"/>
                </a:solidFill>
                <a:latin typeface="標楷體" panose="03000509000000000000" pitchFamily="65" charset="-120"/>
                <a:ea typeface="標楷體" panose="03000509000000000000" pitchFamily="65" charset="-120"/>
              </a:rPr>
              <a:t>多階段提示詞跟微調哪個是影響分數的主因</a:t>
            </a:r>
            <a:r>
              <a:rPr lang="en-US" altLang="zh-TW" sz="1700" dirty="0">
                <a:solidFill>
                  <a:srgbClr val="E5E7EB"/>
                </a:solidFill>
                <a:latin typeface="標楷體" panose="03000509000000000000" pitchFamily="65" charset="-120"/>
                <a:ea typeface="標楷體" panose="03000509000000000000" pitchFamily="65" charset="-120"/>
              </a:rPr>
              <a:t>?</a:t>
            </a:r>
            <a:endParaRPr lang="en-US" sz="1700" dirty="0">
              <a:latin typeface="標楷體" panose="03000509000000000000" pitchFamily="65" charset="-120"/>
              <a:ea typeface="標楷體" panose="03000509000000000000" pitchFamily="65" charset="-120"/>
            </a:endParaRPr>
          </a:p>
          <a:p>
            <a:pPr>
              <a:spcAft>
                <a:spcPts val="400"/>
              </a:spcAft>
              <a:buSzPct val="100000"/>
            </a:pPr>
            <a:endParaRPr lang="en-US" sz="1700" dirty="0">
              <a:latin typeface="標楷體" panose="03000509000000000000" pitchFamily="65" charset="-120"/>
              <a:ea typeface="標楷體" panose="03000509000000000000" pitchFamily="65" charset="-120"/>
            </a:endParaRPr>
          </a:p>
          <a:p>
            <a:pPr marL="342900" indent="-342900">
              <a:spcAft>
                <a:spcPts val="400"/>
              </a:spcAft>
              <a:buSzPct val="100000"/>
              <a:buFontTx/>
              <a:buChar char="●"/>
            </a:pPr>
            <a:r>
              <a:rPr lang="en-US" sz="1700" dirty="0">
                <a:solidFill>
                  <a:srgbClr val="E5E7EB"/>
                </a:solidFill>
                <a:latin typeface="標楷體" panose="03000509000000000000" pitchFamily="65" charset="-120"/>
                <a:ea typeface="標楷體" panose="03000509000000000000" pitchFamily="65" charset="-120"/>
              </a:rPr>
              <a:t>RQ4:</a:t>
            </a:r>
            <a:r>
              <a:rPr lang="zh-TW" altLang="en-US" sz="1700" dirty="0">
                <a:solidFill>
                  <a:srgbClr val="E5E7EB"/>
                </a:solidFill>
                <a:latin typeface="標楷體" panose="03000509000000000000" pitchFamily="65" charset="-120"/>
                <a:ea typeface="標楷體" panose="03000509000000000000" pitchFamily="65" charset="-120"/>
              </a:rPr>
              <a:t>人工評分是否也認為結果更好</a:t>
            </a:r>
            <a:r>
              <a:rPr lang="en-US" altLang="zh-TW" sz="1700" dirty="0">
                <a:solidFill>
                  <a:srgbClr val="E5E7EB"/>
                </a:solidFill>
                <a:latin typeface="標楷體" panose="03000509000000000000" pitchFamily="65" charset="-120"/>
                <a:ea typeface="標楷體" panose="03000509000000000000" pitchFamily="65" charset="-120"/>
              </a:rPr>
              <a:t>?</a:t>
            </a:r>
            <a:endParaRPr lang="en-US" sz="17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072037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評估方法</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CRSCORE++ 三維度 (1–5 分)</a:t>
            </a:r>
            <a:endParaRPr lang="en-US" sz="2000" dirty="0"/>
          </a:p>
        </p:txBody>
      </p:sp>
      <p:sp>
        <p:nvSpPr>
          <p:cNvPr id="5" name="Text 3"/>
          <p:cNvSpPr/>
          <p:nvPr/>
        </p:nvSpPr>
        <p:spPr>
          <a:xfrm>
            <a:off x="457200" y="1554480"/>
            <a:ext cx="5486400" cy="164592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Comprehensiveness</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Conciseness</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Relevance</a:t>
            </a:r>
            <a:endParaRPr lang="en-US" sz="1700" dirty="0"/>
          </a:p>
        </p:txBody>
      </p:sp>
      <p:sp>
        <p:nvSpPr>
          <p:cNvPr id="6" name="Text 4"/>
          <p:cNvSpPr/>
          <p:nvPr/>
        </p:nvSpPr>
        <p:spPr>
          <a:xfrm>
            <a:off x="457200" y="329184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本研究五維度 (1–100 分)</a:t>
            </a:r>
            <a:endParaRPr lang="en-US" sz="2000" dirty="0"/>
          </a:p>
        </p:txBody>
      </p:sp>
      <p:sp>
        <p:nvSpPr>
          <p:cNvPr id="7" name="Text 5"/>
          <p:cNvSpPr/>
          <p:nvPr/>
        </p:nvSpPr>
        <p:spPr>
          <a:xfrm>
            <a:off x="457200" y="3749040"/>
            <a:ext cx="5486400" cy="228600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Readability</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Constructiveness / Maintainability</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Correctness</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Multi-Review Coverage</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Comprehensiveness</a:t>
            </a:r>
            <a:endParaRPr lang="en-US" sz="1700" dirty="0"/>
          </a:p>
        </p:txBody>
      </p:sp>
      <p:sp>
        <p:nvSpPr>
          <p:cNvPr id="8" name="Text 6"/>
          <p:cNvSpPr/>
          <p:nvPr/>
        </p:nvSpPr>
        <p:spPr>
          <a:xfrm>
            <a:off x="621792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改採百分制之理由</a:t>
            </a:r>
            <a:endParaRPr lang="en-US" sz="2000" dirty="0"/>
          </a:p>
        </p:txBody>
      </p:sp>
      <p:sp>
        <p:nvSpPr>
          <p:cNvPr id="9" name="Text 7"/>
          <p:cNvSpPr/>
          <p:nvPr/>
        </p:nvSpPr>
        <p:spPr>
          <a:xfrm>
            <a:off x="6217920" y="1554480"/>
            <a:ext cx="5486400" cy="146304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CRSCORE 五級制差距達 20%，粒度過粗</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百分制更貼近人類直覺，能反映細微差異</a:t>
            </a:r>
            <a:endParaRPr lang="en-US" sz="1600" dirty="0"/>
          </a:p>
        </p:txBody>
      </p:sp>
      <p:sp>
        <p:nvSpPr>
          <p:cNvPr id="10" name="Text 8"/>
          <p:cNvSpPr/>
          <p:nvPr/>
        </p:nvSpPr>
        <p:spPr>
          <a:xfrm>
            <a:off x="6217920" y="329184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人工評分之必要性</a:t>
            </a:r>
            <a:endParaRPr lang="en-US" sz="2000" dirty="0"/>
          </a:p>
        </p:txBody>
      </p:sp>
      <p:sp>
        <p:nvSpPr>
          <p:cNvPr id="11" name="Text 9"/>
          <p:cNvSpPr/>
          <p:nvPr/>
        </p:nvSpPr>
        <p:spPr>
          <a:xfrm>
            <a:off x="6217920" y="3749040"/>
            <a:ext cx="5486400" cy="219456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LLM Judge 於高分端存在天花板效應</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模型無法實際執行程式碼</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作為最終可信度之背書機制</a:t>
            </a:r>
            <a:endParaRPr lang="en-US" sz="1600" dirty="0"/>
          </a:p>
        </p:txBody>
      </p:sp>
      <p:sp>
        <p:nvSpPr>
          <p:cNvPr id="12" name="Text 10"/>
          <p:cNvSpPr/>
          <p:nvPr/>
        </p:nvSpPr>
        <p:spPr>
          <a:xfrm>
            <a:off x="10972800" y="6446520"/>
            <a:ext cx="1097280" cy="320040"/>
          </a:xfrm>
          <a:prstGeom prst="rect">
            <a:avLst/>
          </a:prstGeom>
          <a:noFill/>
          <a:ln/>
        </p:spPr>
        <p:txBody>
          <a:bodyPr wrap="square" rtlCol="0" anchor="ctr"/>
          <a:lstStyle/>
          <a:p>
            <a:pPr marL="0" indent="0" algn="r">
              <a:buNone/>
            </a:pPr>
            <a:r>
              <a:rPr lang="en-US" sz="1000" dirty="0">
                <a:solidFill>
                  <a:srgbClr val="9CA3AF"/>
                </a:solidFill>
                <a:latin typeface="Microsoft JhengHei" pitchFamily="34" charset="0"/>
                <a:ea typeface="Microsoft JhengHei" pitchFamily="34" charset="-122"/>
                <a:cs typeface="Microsoft JhengHei" pitchFamily="34" charset="-120"/>
              </a:rPr>
              <a:t>13 / 21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err="1">
                <a:solidFill>
                  <a:srgbClr val="7DD3FC"/>
                </a:solidFill>
                <a:latin typeface="Microsoft JhengHei" pitchFamily="34" charset="0"/>
                <a:ea typeface="Microsoft JhengHei" pitchFamily="34" charset="-122"/>
                <a:cs typeface="Microsoft JhengHei" pitchFamily="34" charset="-120"/>
              </a:rPr>
              <a:t>主要結果一：CRSCORE</a:t>
            </a:r>
            <a:r>
              <a:rPr lang="en-US" sz="2800" b="1" dirty="0">
                <a:solidFill>
                  <a:srgbClr val="7DD3FC"/>
                </a:solidFill>
                <a:latin typeface="Microsoft JhengHei" pitchFamily="34" charset="0"/>
                <a:ea typeface="Microsoft JhengHei" pitchFamily="34" charset="-122"/>
                <a:cs typeface="Microsoft JhengHei" pitchFamily="34" charset="-120"/>
              </a:rPr>
              <a:t> </a:t>
            </a:r>
            <a:r>
              <a:rPr lang="en-US" sz="2800" b="1" dirty="0" err="1">
                <a:solidFill>
                  <a:srgbClr val="7DD3FC"/>
                </a:solidFill>
                <a:latin typeface="Microsoft JhengHei" pitchFamily="34" charset="0"/>
                <a:ea typeface="Microsoft JhengHei" pitchFamily="34" charset="-122"/>
                <a:cs typeface="Microsoft JhengHei" pitchFamily="34" charset="-120"/>
              </a:rPr>
              <a:t>系列指標評比</a:t>
            </a:r>
            <a:r>
              <a:rPr lang="zh-TW" altLang="en-US" sz="2800" b="1" dirty="0">
                <a:solidFill>
                  <a:srgbClr val="7DD3FC"/>
                </a:solidFill>
                <a:latin typeface="Microsoft JhengHei" pitchFamily="34" charset="0"/>
                <a:ea typeface="Microsoft JhengHei" pitchFamily="34" charset="-122"/>
                <a:cs typeface="Microsoft JhengHei" pitchFamily="34" charset="-120"/>
              </a:rPr>
              <a:t> </a:t>
            </a:r>
            <a:r>
              <a:rPr lang="en-US" altLang="zh-TW" sz="2800" b="1" dirty="0">
                <a:solidFill>
                  <a:srgbClr val="7DD3FC"/>
                </a:solidFill>
                <a:latin typeface="Microsoft JhengHei" pitchFamily="34" charset="0"/>
                <a:ea typeface="Microsoft JhengHei" pitchFamily="34" charset="-122"/>
                <a:cs typeface="Microsoft JhengHei" pitchFamily="34" charset="-120"/>
              </a:rPr>
              <a:t>(RQ1)</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11247120" cy="457200"/>
          </a:xfrm>
          <a:prstGeom prst="rect">
            <a:avLst/>
          </a:prstGeom>
          <a:noFill/>
          <a:ln/>
        </p:spPr>
        <p:txBody>
          <a:bodyPr wrap="square" rtlCol="0" anchor="ctr"/>
          <a:lstStyle/>
          <a:p>
            <a:pPr marL="0" indent="0">
              <a:buNone/>
            </a:pPr>
            <a:r>
              <a:rPr lang="en-US" sz="1700" i="1" dirty="0" err="1">
                <a:solidFill>
                  <a:srgbClr val="9CA3AF"/>
                </a:solidFill>
                <a:latin typeface="Microsoft JhengHei" pitchFamily="34" charset="0"/>
                <a:ea typeface="Microsoft JhengHei" pitchFamily="34" charset="-122"/>
                <a:cs typeface="Microsoft JhengHei" pitchFamily="34" charset="-120"/>
              </a:rPr>
              <a:t>受測模型皆為微調後</a:t>
            </a:r>
            <a:r>
              <a:rPr lang="en-US" sz="1700" i="1" dirty="0">
                <a:solidFill>
                  <a:srgbClr val="9CA3AF"/>
                </a:solidFill>
                <a:latin typeface="Microsoft JhengHei" pitchFamily="34" charset="0"/>
                <a:ea typeface="Microsoft JhengHei" pitchFamily="34" charset="-122"/>
                <a:cs typeface="Microsoft JhengHei" pitchFamily="34" charset="-120"/>
              </a:rPr>
              <a:t> Qwen3-Coder-30B</a:t>
            </a:r>
            <a:r>
              <a:rPr lang="zh-TW" altLang="en-US" sz="1700" i="1" dirty="0">
                <a:solidFill>
                  <a:srgbClr val="9CA3AF"/>
                </a:solidFill>
                <a:latin typeface="Microsoft JhengHei" pitchFamily="34" charset="0"/>
                <a:ea typeface="Microsoft JhengHei" pitchFamily="34" charset="-122"/>
                <a:cs typeface="Microsoft JhengHei" pitchFamily="34" charset="-120"/>
              </a:rPr>
              <a:t>，</a:t>
            </a:r>
            <a:r>
              <a:rPr lang="en-US" sz="1700" i="1" dirty="0" err="1">
                <a:solidFill>
                  <a:srgbClr val="9CA3AF"/>
                </a:solidFill>
                <a:latin typeface="Microsoft JhengHei" pitchFamily="34" charset="0"/>
                <a:ea typeface="Microsoft JhengHei" pitchFamily="34" charset="-122"/>
                <a:cs typeface="Microsoft JhengHei" pitchFamily="34" charset="-120"/>
              </a:rPr>
              <a:t>差異在於評分提示詞設計</a:t>
            </a:r>
            <a:r>
              <a:rPr lang="en-US" sz="1700" i="1" dirty="0">
                <a:solidFill>
                  <a:srgbClr val="9CA3AF"/>
                </a:solidFill>
                <a:latin typeface="Microsoft JhengHei" pitchFamily="34" charset="0"/>
                <a:ea typeface="Microsoft JhengHei" pitchFamily="34" charset="-122"/>
                <a:cs typeface="Microsoft JhengHei" pitchFamily="34" charset="-120"/>
              </a:rPr>
              <a:t>。</a:t>
            </a:r>
            <a:endParaRPr lang="en-US" sz="1700" dirty="0"/>
          </a:p>
        </p:txBody>
      </p:sp>
      <p:graphicFrame>
        <p:nvGraphicFramePr>
          <p:cNvPr id="15" name="Table 0"/>
          <p:cNvGraphicFramePr>
            <a:graphicFrameLocks noGrp="1"/>
          </p:cNvGraphicFramePr>
          <p:nvPr>
            <p:extLst>
              <p:ext uri="{D42A27DB-BD31-4B8C-83A1-F6EECF244321}">
                <p14:modId xmlns:p14="http://schemas.microsoft.com/office/powerpoint/2010/main" val="3919427655"/>
              </p:ext>
            </p:extLst>
          </p:nvPr>
        </p:nvGraphicFramePr>
        <p:xfrm>
          <a:off x="457200" y="1691640"/>
          <a:ext cx="11247120" cy="2194560"/>
        </p:xfrm>
        <a:graphic>
          <a:graphicData uri="http://schemas.openxmlformats.org/drawingml/2006/table">
            <a:tbl>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48640">
                <a:tc>
                  <a:txBody>
                    <a:bodyPr/>
                    <a:lstStyle/>
                    <a:p>
                      <a:pPr marL="0" indent="0" algn="ctr">
                        <a:buNone/>
                      </a:pPr>
                      <a:r>
                        <a:rPr lang="en-US" sz="1800" b="1" dirty="0">
                          <a:solidFill>
                            <a:srgbClr val="7DD3FC"/>
                          </a:solidFill>
                          <a:latin typeface="Microsoft JhengHei" pitchFamily="34" charset="0"/>
                          <a:ea typeface="Microsoft JhengHei" pitchFamily="34" charset="-122"/>
                          <a:cs typeface="Microsoft JhengHei" pitchFamily="34" charset="-120"/>
                        </a:rPr>
                        <a:t>維度</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800" b="1" dirty="0">
                          <a:solidFill>
                            <a:srgbClr val="7DD3FC"/>
                          </a:solidFill>
                          <a:latin typeface="Microsoft JhengHei" pitchFamily="34" charset="0"/>
                          <a:ea typeface="Microsoft JhengHei" pitchFamily="34" charset="-122"/>
                          <a:cs typeface="Microsoft JhengHei" pitchFamily="34" charset="-120"/>
                        </a:rPr>
                        <a:t>本研究 CoT 提示詞</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800" b="1" dirty="0">
                          <a:solidFill>
                            <a:srgbClr val="7DD3FC"/>
                          </a:solidFill>
                          <a:latin typeface="Microsoft JhengHei" pitchFamily="34" charset="0"/>
                          <a:ea typeface="Microsoft JhengHei" pitchFamily="34" charset="-122"/>
                          <a:cs typeface="Microsoft JhengHei" pitchFamily="34" charset="-120"/>
                        </a:rPr>
                        <a:t>CRSCORE++ </a:t>
                      </a:r>
                      <a:r>
                        <a:rPr lang="en-US" sz="1800" b="1" dirty="0" err="1">
                          <a:solidFill>
                            <a:srgbClr val="7DD3FC"/>
                          </a:solidFill>
                          <a:latin typeface="Microsoft JhengHei" pitchFamily="34" charset="0"/>
                          <a:ea typeface="Microsoft JhengHei" pitchFamily="34" charset="-122"/>
                          <a:cs typeface="Microsoft JhengHei" pitchFamily="34" charset="-120"/>
                        </a:rPr>
                        <a:t>提示詞</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800" b="1" dirty="0">
                          <a:solidFill>
                            <a:srgbClr val="7DD3FC"/>
                          </a:solidFill>
                          <a:latin typeface="Microsoft JhengHei" pitchFamily="34" charset="0"/>
                          <a:ea typeface="Microsoft JhengHei" pitchFamily="34" charset="-122"/>
                          <a:cs typeface="Microsoft JhengHei" pitchFamily="34" charset="-120"/>
                        </a:rPr>
                        <a:t>Δ</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extLst>
                  <a:ext uri="{0D108BD9-81ED-4DB2-BD59-A6C34878D82A}">
                    <a16:rowId xmlns:a16="http://schemas.microsoft.com/office/drawing/2014/main" val="10000"/>
                  </a:ext>
                </a:extLst>
              </a:tr>
              <a:tr h="548640">
                <a:tc>
                  <a:txBody>
                    <a:bodyPr/>
                    <a:lstStyle/>
                    <a:p>
                      <a:pPr marL="0" indent="0" algn="l">
                        <a:buNone/>
                      </a:pPr>
                      <a:r>
                        <a:rPr lang="en-US" sz="1800" b="1" dirty="0">
                          <a:solidFill>
                            <a:srgbClr val="E5E7EB"/>
                          </a:solidFill>
                          <a:latin typeface="Microsoft JhengHei" pitchFamily="34" charset="0"/>
                          <a:ea typeface="Microsoft JhengHei" pitchFamily="34" charset="-122"/>
                          <a:cs typeface="Microsoft JhengHei" pitchFamily="34" charset="-120"/>
                        </a:rPr>
                        <a:t>Comprehensiveness</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800" b="1" dirty="0">
                          <a:solidFill>
                            <a:srgbClr val="2DD4BF"/>
                          </a:solidFill>
                          <a:latin typeface="Microsoft JhengHei" pitchFamily="34" charset="0"/>
                          <a:ea typeface="Microsoft JhengHei" pitchFamily="34" charset="-122"/>
                          <a:cs typeface="Microsoft JhengHei" pitchFamily="34" charset="-120"/>
                        </a:rPr>
                        <a:t>0.86</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800" dirty="0">
                          <a:solidFill>
                            <a:srgbClr val="E5E7EB"/>
                          </a:solidFill>
                          <a:latin typeface="Microsoft JhengHei" pitchFamily="34" charset="0"/>
                          <a:ea typeface="Microsoft JhengHei" pitchFamily="34" charset="-122"/>
                          <a:cs typeface="Microsoft JhengHei" pitchFamily="34" charset="-120"/>
                        </a:rPr>
                        <a:t>0.67</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800" b="1" dirty="0">
                          <a:solidFill>
                            <a:srgbClr val="2DD4BF"/>
                          </a:solidFill>
                          <a:latin typeface="Microsoft JhengHei" pitchFamily="34" charset="0"/>
                          <a:ea typeface="Microsoft JhengHei" pitchFamily="34" charset="-122"/>
                          <a:cs typeface="Microsoft JhengHei" pitchFamily="34" charset="-120"/>
                        </a:rPr>
                        <a:t>+0.19</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800" b="1" dirty="0">
                          <a:solidFill>
                            <a:srgbClr val="E5E7EB"/>
                          </a:solidFill>
                          <a:latin typeface="Microsoft JhengHei" pitchFamily="34" charset="0"/>
                          <a:ea typeface="Microsoft JhengHei" pitchFamily="34" charset="-122"/>
                          <a:cs typeface="Microsoft JhengHei" pitchFamily="34" charset="-120"/>
                        </a:rPr>
                        <a:t>Relevance</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800" b="1" dirty="0">
                          <a:solidFill>
                            <a:srgbClr val="2DD4BF"/>
                          </a:solidFill>
                          <a:latin typeface="Microsoft JhengHei" pitchFamily="34" charset="0"/>
                          <a:ea typeface="Microsoft JhengHei" pitchFamily="34" charset="-122"/>
                          <a:cs typeface="Microsoft JhengHei" pitchFamily="34" charset="-120"/>
                        </a:rPr>
                        <a:t>0.83</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800" dirty="0">
                          <a:solidFill>
                            <a:srgbClr val="E5E7EB"/>
                          </a:solidFill>
                          <a:latin typeface="Microsoft JhengHei" pitchFamily="34" charset="0"/>
                          <a:ea typeface="Microsoft JhengHei" pitchFamily="34" charset="-122"/>
                          <a:cs typeface="Microsoft JhengHei" pitchFamily="34" charset="-120"/>
                        </a:rPr>
                        <a:t>0.63</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800" b="1" dirty="0">
                          <a:solidFill>
                            <a:srgbClr val="2DD4BF"/>
                          </a:solidFill>
                          <a:latin typeface="Microsoft JhengHei" pitchFamily="34" charset="0"/>
                          <a:ea typeface="Microsoft JhengHei" pitchFamily="34" charset="-122"/>
                          <a:cs typeface="Microsoft JhengHei" pitchFamily="34" charset="-120"/>
                        </a:rPr>
                        <a:t>+0.20</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2"/>
                  </a:ext>
                </a:extLst>
              </a:tr>
              <a:tr h="548640">
                <a:tc>
                  <a:txBody>
                    <a:bodyPr/>
                    <a:lstStyle/>
                    <a:p>
                      <a:pPr marL="0" indent="0" algn="l">
                        <a:buNone/>
                      </a:pPr>
                      <a:r>
                        <a:rPr lang="en-US" sz="1800" b="1" dirty="0">
                          <a:solidFill>
                            <a:srgbClr val="E5E7EB"/>
                          </a:solidFill>
                          <a:latin typeface="Microsoft JhengHei" pitchFamily="34" charset="0"/>
                          <a:ea typeface="Microsoft JhengHei" pitchFamily="34" charset="-122"/>
                          <a:cs typeface="Microsoft JhengHei" pitchFamily="34" charset="-120"/>
                        </a:rPr>
                        <a:t>Conciseness</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800" b="1" dirty="0">
                          <a:solidFill>
                            <a:srgbClr val="2DD4BF"/>
                          </a:solidFill>
                          <a:latin typeface="Microsoft JhengHei" pitchFamily="34" charset="0"/>
                          <a:ea typeface="Microsoft JhengHei" pitchFamily="34" charset="-122"/>
                          <a:cs typeface="Microsoft JhengHei" pitchFamily="34" charset="-120"/>
                        </a:rPr>
                        <a:t>0.64</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800" dirty="0">
                          <a:solidFill>
                            <a:srgbClr val="E5E7EB"/>
                          </a:solidFill>
                          <a:latin typeface="Microsoft JhengHei" pitchFamily="34" charset="0"/>
                          <a:ea typeface="Microsoft JhengHei" pitchFamily="34" charset="-122"/>
                          <a:cs typeface="Microsoft JhengHei" pitchFamily="34" charset="-120"/>
                        </a:rPr>
                        <a:t>0.57</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800" dirty="0">
                          <a:solidFill>
                            <a:srgbClr val="E5E7EB"/>
                          </a:solidFill>
                          <a:latin typeface="Microsoft JhengHei" pitchFamily="34" charset="0"/>
                          <a:ea typeface="Microsoft JhengHei" pitchFamily="34" charset="-122"/>
                          <a:cs typeface="Microsoft JhengHei" pitchFamily="34" charset="-120"/>
                        </a:rPr>
                        <a:t>+0.07</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457200" y="4023360"/>
            <a:ext cx="1124712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結果分析</a:t>
            </a:r>
            <a:endParaRPr lang="en-US" sz="2000" dirty="0"/>
          </a:p>
        </p:txBody>
      </p:sp>
      <p:sp>
        <p:nvSpPr>
          <p:cNvPr id="7" name="Text 4"/>
          <p:cNvSpPr/>
          <p:nvPr/>
        </p:nvSpPr>
        <p:spPr>
          <a:xfrm>
            <a:off x="457200" y="4480560"/>
            <a:ext cx="11247120" cy="182880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Comprehensiveness 與 Relevance 顯著勝出，分別提升 0.19 與 0.20</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Conciseness 提升幅度為 0.07，為多階段輸出較長之設計權衡</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驗證 CoT 拆解、RAG 注入與微調設計之協同效果</a:t>
            </a:r>
            <a:endParaRPr lang="en-US" sz="1700" dirty="0"/>
          </a:p>
        </p:txBody>
      </p:sp>
      <p:sp>
        <p:nvSpPr>
          <p:cNvPr id="8" name="Text 5"/>
          <p:cNvSpPr/>
          <p:nvPr/>
        </p:nvSpPr>
        <p:spPr>
          <a:xfrm>
            <a:off x="10972800" y="6446520"/>
            <a:ext cx="1097280" cy="320040"/>
          </a:xfrm>
          <a:prstGeom prst="rect">
            <a:avLst/>
          </a:prstGeom>
          <a:noFill/>
          <a:ln/>
        </p:spPr>
        <p:txBody>
          <a:bodyPr wrap="square" rtlCol="0" anchor="ctr"/>
          <a:lstStyle/>
          <a:p>
            <a:pPr marL="0" indent="0" algn="r">
              <a:buNone/>
            </a:pPr>
            <a:r>
              <a:rPr lang="en-US" sz="1000" dirty="0">
                <a:solidFill>
                  <a:srgbClr val="9CA3AF"/>
                </a:solidFill>
                <a:latin typeface="Microsoft JhengHei" pitchFamily="34" charset="0"/>
                <a:ea typeface="Microsoft JhengHei" pitchFamily="34" charset="-122"/>
                <a:cs typeface="Microsoft JhengHei" pitchFamily="34" charset="-120"/>
              </a:rPr>
              <a:t>14 / 21</a:t>
            </a:r>
            <a:endParaRPr lang="en-US" sz="1000" dirty="0"/>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zh-TW" altLang="en-US" sz="2800" b="1" dirty="0">
                <a:solidFill>
                  <a:srgbClr val="7DD3FC"/>
                </a:solidFill>
                <a:latin typeface="Microsoft JhengHei" pitchFamily="34" charset="0"/>
                <a:ea typeface="Microsoft JhengHei" pitchFamily="34" charset="-122"/>
                <a:cs typeface="Microsoft JhengHei" pitchFamily="34" charset="-120"/>
              </a:rPr>
              <a:t>主要結果二</a:t>
            </a:r>
            <a:r>
              <a:rPr lang="en-US" altLang="zh-TW" sz="2800" b="1" dirty="0">
                <a:solidFill>
                  <a:srgbClr val="7DD3FC"/>
                </a:solidFill>
                <a:latin typeface="Microsoft JhengHei" pitchFamily="34" charset="0"/>
                <a:ea typeface="Microsoft JhengHei" pitchFamily="34" charset="-122"/>
                <a:cs typeface="Microsoft JhengHei" pitchFamily="34" charset="-120"/>
              </a:rPr>
              <a:t>:</a:t>
            </a:r>
            <a:r>
              <a:rPr lang="zh-TW" altLang="en-US" sz="2800" b="1" dirty="0">
                <a:solidFill>
                  <a:srgbClr val="7DD3FC"/>
                </a:solidFill>
                <a:latin typeface="Microsoft JhengHei" pitchFamily="34" charset="0"/>
                <a:ea typeface="Microsoft JhengHei" pitchFamily="34" charset="-122"/>
                <a:cs typeface="Microsoft JhengHei" pitchFamily="34" charset="-120"/>
              </a:rPr>
              <a:t> 相同參數量模型的比較 </a:t>
            </a:r>
            <a:r>
              <a:rPr lang="en-US" altLang="zh-TW" sz="2800" b="1" dirty="0">
                <a:solidFill>
                  <a:srgbClr val="7DD3FC"/>
                </a:solidFill>
                <a:latin typeface="Microsoft JhengHei" pitchFamily="34" charset="0"/>
                <a:ea typeface="Microsoft JhengHei" pitchFamily="34" charset="-122"/>
                <a:cs typeface="Microsoft JhengHei" pitchFamily="34" charset="-120"/>
              </a:rPr>
              <a:t>(RQ2)</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8" name="Text 5"/>
          <p:cNvSpPr/>
          <p:nvPr/>
        </p:nvSpPr>
        <p:spPr>
          <a:xfrm>
            <a:off x="10972800" y="6446520"/>
            <a:ext cx="1097280" cy="320040"/>
          </a:xfrm>
          <a:prstGeom prst="rect">
            <a:avLst/>
          </a:prstGeom>
          <a:noFill/>
          <a:ln/>
        </p:spPr>
        <p:txBody>
          <a:bodyPr wrap="square" rtlCol="0" anchor="ctr"/>
          <a:lstStyle/>
          <a:p>
            <a:pPr marL="0" indent="0" algn="r">
              <a:buNone/>
            </a:pPr>
            <a:r>
              <a:rPr lang="en-US" sz="1000" dirty="0">
                <a:solidFill>
                  <a:srgbClr val="9CA3AF"/>
                </a:solidFill>
                <a:latin typeface="Microsoft JhengHei" pitchFamily="34" charset="0"/>
                <a:ea typeface="Microsoft JhengHei" pitchFamily="34" charset="-122"/>
                <a:cs typeface="Microsoft JhengHei" pitchFamily="34" charset="-120"/>
              </a:rPr>
              <a:t>15 / 21</a:t>
            </a:r>
            <a:endParaRPr lang="en-US" sz="1000" dirty="0"/>
          </a:p>
        </p:txBody>
      </p:sp>
      <p:graphicFrame>
        <p:nvGraphicFramePr>
          <p:cNvPr id="5" name="Table 0">
            <a:extLst>
              <a:ext uri="{FF2B5EF4-FFF2-40B4-BE49-F238E27FC236}">
                <a16:creationId xmlns:a16="http://schemas.microsoft.com/office/drawing/2014/main" id="{79CAB459-41AB-416F-8512-8EBC175B1A41}"/>
              </a:ext>
            </a:extLst>
          </p:cNvPr>
          <p:cNvGraphicFramePr>
            <a:graphicFrameLocks noGrp="1"/>
          </p:cNvGraphicFramePr>
          <p:nvPr>
            <p:extLst>
              <p:ext uri="{D42A27DB-BD31-4B8C-83A1-F6EECF244321}">
                <p14:modId xmlns:p14="http://schemas.microsoft.com/office/powerpoint/2010/main" val="919516318"/>
              </p:ext>
            </p:extLst>
          </p:nvPr>
        </p:nvGraphicFramePr>
        <p:xfrm>
          <a:off x="254000" y="1945640"/>
          <a:ext cx="11450320" cy="2194560"/>
        </p:xfrm>
        <a:graphic>
          <a:graphicData uri="http://schemas.openxmlformats.org/drawingml/2006/table">
            <a:tbl>
              <a:tblPr/>
              <a:tblGrid>
                <a:gridCol w="2413497">
                  <a:extLst>
                    <a:ext uri="{9D8B030D-6E8A-4147-A177-3AD203B41FA5}">
                      <a16:colId xmlns:a16="http://schemas.microsoft.com/office/drawing/2014/main" val="20000"/>
                    </a:ext>
                  </a:extLst>
                </a:gridCol>
                <a:gridCol w="2146289">
                  <a:extLst>
                    <a:ext uri="{9D8B030D-6E8A-4147-A177-3AD203B41FA5}">
                      <a16:colId xmlns:a16="http://schemas.microsoft.com/office/drawing/2014/main" val="20001"/>
                    </a:ext>
                  </a:extLst>
                </a:gridCol>
                <a:gridCol w="2349014">
                  <a:extLst>
                    <a:ext uri="{9D8B030D-6E8A-4147-A177-3AD203B41FA5}">
                      <a16:colId xmlns:a16="http://schemas.microsoft.com/office/drawing/2014/main" val="20002"/>
                    </a:ext>
                  </a:extLst>
                </a:gridCol>
                <a:gridCol w="2270760">
                  <a:extLst>
                    <a:ext uri="{9D8B030D-6E8A-4147-A177-3AD203B41FA5}">
                      <a16:colId xmlns:a16="http://schemas.microsoft.com/office/drawing/2014/main" val="20003"/>
                    </a:ext>
                  </a:extLst>
                </a:gridCol>
                <a:gridCol w="2270760">
                  <a:extLst>
                    <a:ext uri="{9D8B030D-6E8A-4147-A177-3AD203B41FA5}">
                      <a16:colId xmlns:a16="http://schemas.microsoft.com/office/drawing/2014/main" val="2399498290"/>
                    </a:ext>
                  </a:extLst>
                </a:gridCol>
              </a:tblGrid>
              <a:tr h="548640">
                <a:tc>
                  <a:txBody>
                    <a:bodyPr/>
                    <a:lstStyle/>
                    <a:p>
                      <a:pPr marL="0" indent="0" algn="ctr">
                        <a:buNone/>
                      </a:pPr>
                      <a:r>
                        <a:rPr lang="en-US" sz="1800" b="1" dirty="0">
                          <a:solidFill>
                            <a:srgbClr val="E5E7EB"/>
                          </a:solidFill>
                          <a:latin typeface="Microsoft JhengHei" pitchFamily="34" charset="0"/>
                          <a:ea typeface="Microsoft JhengHei" pitchFamily="34" charset="-122"/>
                          <a:cs typeface="Microsoft JhengHei" pitchFamily="34" charset="-120"/>
                        </a:rPr>
                        <a:t>維度</a:t>
                      </a:r>
                      <a:endParaRPr lang="en-US" sz="1800" dirty="0">
                        <a:solidFill>
                          <a:schemeClr val="accent1"/>
                        </a:solidFill>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algn="ctr"/>
                      <a:r>
                        <a:rPr lang="en-US" sz="1800" b="1"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CRSCORE++</a:t>
                      </a:r>
                      <a:endParaRPr lang="zh-TW" sz="1800" b="1" kern="100" dirty="0">
                        <a:solidFill>
                          <a:schemeClr val="accen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algn="ctr"/>
                      <a:r>
                        <a:rPr lang="en-US" sz="1800" b="1"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Ours (30B)</a:t>
                      </a:r>
                      <a:endParaRPr lang="zh-TW" sz="1800" b="1" kern="100" dirty="0">
                        <a:solidFill>
                          <a:schemeClr val="accen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algn="ctr"/>
                      <a:r>
                        <a:rPr lang="en-US" sz="1800" b="1"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Ours (7B)</a:t>
                      </a:r>
                      <a:endParaRPr lang="zh-TW" sz="1800" b="1" kern="100" dirty="0">
                        <a:solidFill>
                          <a:schemeClr val="accen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algn="ctr"/>
                      <a:r>
                        <a:rPr lang="en-US" altLang="zh-TW" sz="1800" b="1" kern="1200" dirty="0">
                          <a:solidFill>
                            <a:srgbClr val="E5E7EB"/>
                          </a:solidFill>
                          <a:effectLst/>
                          <a:latin typeface="微軟正黑體" panose="020B0604030504040204" pitchFamily="34" charset="-120"/>
                          <a:ea typeface="微軟正黑體" panose="020B0604030504040204" pitchFamily="34" charset="-120"/>
                          <a:cs typeface="+mn-cs"/>
                        </a:rPr>
                        <a:t>Ours (coder-7B)</a:t>
                      </a:r>
                      <a:endParaRPr lang="zh-TW" sz="1800" b="1" kern="100" dirty="0">
                        <a:solidFill>
                          <a:schemeClr val="accen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extLst>
                  <a:ext uri="{0D108BD9-81ED-4DB2-BD59-A6C34878D82A}">
                    <a16:rowId xmlns:a16="http://schemas.microsoft.com/office/drawing/2014/main" val="10000"/>
                  </a:ext>
                </a:extLst>
              </a:tr>
              <a:tr h="548640">
                <a:tc>
                  <a:txBody>
                    <a:bodyPr/>
                    <a:lstStyle/>
                    <a:p>
                      <a:pPr marL="0" indent="0" algn="l">
                        <a:buNone/>
                      </a:pPr>
                      <a:r>
                        <a:rPr lang="en-US" sz="1800" b="1" dirty="0">
                          <a:solidFill>
                            <a:srgbClr val="E5E7EB"/>
                          </a:solidFill>
                          <a:latin typeface="Microsoft JhengHei" pitchFamily="34" charset="0"/>
                          <a:ea typeface="Microsoft JhengHei" pitchFamily="34" charset="-122"/>
                          <a:cs typeface="Microsoft JhengHei" pitchFamily="34" charset="-120"/>
                        </a:rPr>
                        <a:t>Comprehensiveness</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algn="ctr"/>
                      <a:r>
                        <a:rPr lang="en-US" sz="1800" b="1"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0.67</a:t>
                      </a:r>
                      <a:endParaRPr lang="zh-TW" sz="1800" b="1"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algn="ctr"/>
                      <a:r>
                        <a:rPr lang="en-US" sz="1800" b="1" u="sng" kern="10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0.86</a:t>
                      </a:r>
                      <a:endParaRPr lang="zh-TW" sz="1800" b="1"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algn="ctr"/>
                      <a:r>
                        <a:rPr lang="en-US" sz="1800" b="1" u="sng"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0.8</a:t>
                      </a:r>
                      <a:endParaRPr lang="zh-TW" sz="1800" b="1"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algn="ctr"/>
                      <a:r>
                        <a:rPr lang="en-US" sz="1800" b="1" u="sng" kern="10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0.79</a:t>
                      </a:r>
                      <a:endParaRPr lang="zh-TW" sz="1800" b="1"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800" b="1" dirty="0">
                          <a:solidFill>
                            <a:srgbClr val="E5E7EB"/>
                          </a:solidFill>
                          <a:latin typeface="Microsoft JhengHei" pitchFamily="34" charset="0"/>
                          <a:ea typeface="Microsoft JhengHei" pitchFamily="34" charset="-122"/>
                          <a:cs typeface="Microsoft JhengHei" pitchFamily="34" charset="-120"/>
                        </a:rPr>
                        <a:t>Relevance</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algn="ctr"/>
                      <a:r>
                        <a:rPr lang="en-US" sz="1800" b="1"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0.57</a:t>
                      </a:r>
                      <a:endParaRPr lang="zh-TW" sz="1800" b="1"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algn="ctr"/>
                      <a:r>
                        <a:rPr lang="en-US" sz="1800" b="1" u="sng"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0.64</a:t>
                      </a:r>
                      <a:endParaRPr lang="zh-TW" sz="1800" b="1"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algn="ctr"/>
                      <a:r>
                        <a:rPr lang="en-US" sz="1800" b="1" u="none"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0.45</a:t>
                      </a:r>
                      <a:endParaRPr lang="zh-TW" sz="1800" b="1" u="none"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algn="ctr"/>
                      <a:r>
                        <a:rPr lang="en-US" sz="1800" b="1" u="none"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0.5</a:t>
                      </a:r>
                      <a:endParaRPr lang="zh-TW" sz="1800" b="1" u="none"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2"/>
                  </a:ext>
                </a:extLst>
              </a:tr>
              <a:tr h="548640">
                <a:tc>
                  <a:txBody>
                    <a:bodyPr/>
                    <a:lstStyle/>
                    <a:p>
                      <a:pPr marL="0" indent="0" algn="l">
                        <a:buNone/>
                      </a:pPr>
                      <a:r>
                        <a:rPr lang="en-US" sz="1800" b="1" dirty="0">
                          <a:solidFill>
                            <a:srgbClr val="E5E7EB"/>
                          </a:solidFill>
                          <a:latin typeface="Microsoft JhengHei" pitchFamily="34" charset="0"/>
                          <a:ea typeface="Microsoft JhengHei" pitchFamily="34" charset="-122"/>
                          <a:cs typeface="Microsoft JhengHei" pitchFamily="34" charset="-120"/>
                        </a:rPr>
                        <a:t>Conciseness</a:t>
                      </a:r>
                      <a:endParaRPr lang="en-US" sz="18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algn="ctr"/>
                      <a:r>
                        <a:rPr lang="en-US" sz="1800" b="1" kern="10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0.63</a:t>
                      </a:r>
                      <a:endParaRPr lang="zh-TW" sz="1800" b="1"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algn="ctr"/>
                      <a:r>
                        <a:rPr lang="en-US" sz="1800" b="1" u="sng" kern="10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0.83</a:t>
                      </a:r>
                      <a:endParaRPr lang="zh-TW" sz="1800" b="1" kern="10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algn="ctr"/>
                      <a:r>
                        <a:rPr lang="en-US" sz="1800" b="1" u="sng"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0.66</a:t>
                      </a:r>
                      <a:endParaRPr lang="zh-TW" sz="1800" b="1"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algn="ctr"/>
                      <a:r>
                        <a:rPr lang="en-US" sz="1800" b="1" u="sng" kern="100" dirty="0">
                          <a:solidFill>
                            <a:srgbClr val="E5E7EB"/>
                          </a:solidFill>
                          <a:effectLst/>
                          <a:latin typeface="微軟正黑體" panose="020B0604030504040204" pitchFamily="34" charset="-120"/>
                          <a:ea typeface="微軟正黑體" panose="020B0604030504040204" pitchFamily="34" charset="-120"/>
                          <a:cs typeface="Times New Roman" panose="02020603050405020304" pitchFamily="18" charset="0"/>
                        </a:rPr>
                        <a:t>0.66</a:t>
                      </a:r>
                      <a:endParaRPr lang="zh-TW" sz="1800" b="1"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a:extLst>
              <a:ext uri="{FF2B5EF4-FFF2-40B4-BE49-F238E27FC236}">
                <a16:creationId xmlns:a16="http://schemas.microsoft.com/office/drawing/2014/main" id="{42F0786F-EA29-4FD4-B0C2-CB1382820BC6}"/>
              </a:ext>
            </a:extLst>
          </p:cNvPr>
          <p:cNvSpPr/>
          <p:nvPr/>
        </p:nvSpPr>
        <p:spPr>
          <a:xfrm>
            <a:off x="457200" y="4320540"/>
            <a:ext cx="1124712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結果分析</a:t>
            </a:r>
            <a:endParaRPr lang="en-US" sz="2000" dirty="0"/>
          </a:p>
        </p:txBody>
      </p:sp>
      <p:sp>
        <p:nvSpPr>
          <p:cNvPr id="7" name="Text 3">
            <a:extLst>
              <a:ext uri="{FF2B5EF4-FFF2-40B4-BE49-F238E27FC236}">
                <a16:creationId xmlns:a16="http://schemas.microsoft.com/office/drawing/2014/main" id="{E729ACD7-7041-47C4-A5A9-8FE4D0B3449F}"/>
              </a:ext>
            </a:extLst>
          </p:cNvPr>
          <p:cNvSpPr/>
          <p:nvPr/>
        </p:nvSpPr>
        <p:spPr>
          <a:xfrm>
            <a:off x="457200" y="4732020"/>
            <a:ext cx="11247120" cy="1828800"/>
          </a:xfrm>
          <a:prstGeom prst="rect">
            <a:avLst/>
          </a:prstGeom>
          <a:noFill/>
          <a:ln/>
        </p:spPr>
        <p:txBody>
          <a:bodyPr wrap="square" rtlCol="0" anchor="t"/>
          <a:lstStyle/>
          <a:p>
            <a:pPr marL="342900" indent="-342900">
              <a:spcAft>
                <a:spcPts val="400"/>
              </a:spcAft>
              <a:buSzPct val="100000"/>
              <a:buChar char="●"/>
            </a:pPr>
            <a:r>
              <a:rPr lang="zh-TW" altLang="en-US" dirty="0">
                <a:solidFill>
                  <a:srgbClr val="E5E7EB"/>
                </a:solidFill>
                <a:latin typeface="微軟正黑體" panose="020B0604030504040204" pitchFamily="34" charset="-120"/>
                <a:ea typeface="微軟正黑體" panose="020B0604030504040204" pitchFamily="34" charset="-120"/>
              </a:rPr>
              <a:t>採用多階段提示詞的方法就算在未微調的模型下一樣可以得到較好的分數。</a:t>
            </a:r>
            <a:endParaRPr lang="en-US" altLang="zh-TW" dirty="0">
              <a:latin typeface="微軟正黑體" panose="020B0604030504040204" pitchFamily="34" charset="-120"/>
              <a:ea typeface="微軟正黑體" panose="020B0604030504040204" pitchFamily="34" charset="-120"/>
            </a:endParaRPr>
          </a:p>
          <a:p>
            <a:pPr marL="800100" lvl="1" indent="-342900">
              <a:spcAft>
                <a:spcPts val="400"/>
              </a:spcAft>
              <a:buSzPct val="100000"/>
              <a:buChar char="●"/>
            </a:pPr>
            <a:r>
              <a:rPr lang="en-US" dirty="0">
                <a:solidFill>
                  <a:srgbClr val="E5E7EB"/>
                </a:solidFill>
                <a:latin typeface="微軟正黑體" panose="020B0604030504040204" pitchFamily="34" charset="-120"/>
                <a:ea typeface="微軟正黑體" panose="020B0604030504040204" pitchFamily="34" charset="-120"/>
              </a:rPr>
              <a:t>7B </a:t>
            </a:r>
            <a:r>
              <a:rPr lang="zh-TW" altLang="en-US" dirty="0">
                <a:solidFill>
                  <a:srgbClr val="E5E7EB"/>
                </a:solidFill>
                <a:latin typeface="微軟正黑體" panose="020B0604030504040204" pitchFamily="34" charset="-120"/>
                <a:ea typeface="微軟正黑體" panose="020B0604030504040204" pitchFamily="34" charset="-120"/>
              </a:rPr>
              <a:t>為 </a:t>
            </a:r>
            <a:r>
              <a:rPr lang="en-US" altLang="zh-TW" dirty="0">
                <a:solidFill>
                  <a:srgbClr val="E5E7EB"/>
                </a:solidFill>
                <a:latin typeface="微軟正黑體" panose="020B0604030504040204" pitchFamily="34" charset="-120"/>
                <a:ea typeface="微軟正黑體" panose="020B0604030504040204" pitchFamily="34" charset="-120"/>
              </a:rPr>
              <a:t>Qwen3 - 7B</a:t>
            </a:r>
          </a:p>
          <a:p>
            <a:pPr marL="800100" lvl="1" indent="-342900">
              <a:spcAft>
                <a:spcPts val="400"/>
              </a:spcAft>
              <a:buSzPct val="100000"/>
              <a:buChar char="●"/>
            </a:pPr>
            <a:r>
              <a:rPr lang="en-US" dirty="0">
                <a:solidFill>
                  <a:srgbClr val="E5E7EB"/>
                </a:solidFill>
                <a:latin typeface="微軟正黑體" panose="020B0604030504040204" pitchFamily="34" charset="-120"/>
                <a:ea typeface="微軟正黑體" panose="020B0604030504040204" pitchFamily="34" charset="-120"/>
              </a:rPr>
              <a:t>Coder - 7B  </a:t>
            </a:r>
            <a:r>
              <a:rPr lang="zh-TW" altLang="en-US" dirty="0">
                <a:solidFill>
                  <a:srgbClr val="E5E7EB"/>
                </a:solidFill>
                <a:latin typeface="微軟正黑體" panose="020B0604030504040204" pitchFamily="34" charset="-120"/>
                <a:ea typeface="微軟正黑體" panose="020B0604030504040204" pitchFamily="34" charset="-120"/>
              </a:rPr>
              <a:t>採用跟 </a:t>
            </a:r>
            <a:r>
              <a:rPr lang="en-US" altLang="zh-TW" dirty="0">
                <a:solidFill>
                  <a:srgbClr val="E5E7EB"/>
                </a:solidFill>
                <a:latin typeface="微軟正黑體" panose="020B0604030504040204" pitchFamily="34" charset="-120"/>
                <a:ea typeface="微軟正黑體" panose="020B0604030504040204" pitchFamily="34" charset="-120"/>
              </a:rPr>
              <a:t>CRSCORE++ </a:t>
            </a:r>
            <a:r>
              <a:rPr lang="zh-TW" altLang="en-US" dirty="0">
                <a:solidFill>
                  <a:srgbClr val="E5E7EB"/>
                </a:solidFill>
                <a:latin typeface="微軟正黑體" panose="020B0604030504040204" pitchFamily="34" charset="-120"/>
                <a:ea typeface="微軟正黑體" panose="020B0604030504040204" pitchFamily="34" charset="-120"/>
              </a:rPr>
              <a:t>一樣的 </a:t>
            </a:r>
            <a:r>
              <a:rPr lang="en-US" altLang="zh-TW" dirty="0" err="1">
                <a:solidFill>
                  <a:srgbClr val="E5E7EB"/>
                </a:solidFill>
                <a:latin typeface="微軟正黑體" panose="020B0604030504040204" pitchFamily="34" charset="-120"/>
                <a:ea typeface="微軟正黑體" panose="020B0604030504040204" pitchFamily="34" charset="-120"/>
              </a:rPr>
              <a:t>Qwen</a:t>
            </a:r>
            <a:r>
              <a:rPr lang="en-US" altLang="zh-TW" dirty="0">
                <a:solidFill>
                  <a:srgbClr val="E5E7EB"/>
                </a:solidFill>
                <a:latin typeface="微軟正黑體" panose="020B0604030504040204" pitchFamily="34" charset="-120"/>
                <a:ea typeface="微軟正黑體" panose="020B0604030504040204" pitchFamily="34" charset="-120"/>
              </a:rPr>
              <a:t> 2.5 coder - 7B</a:t>
            </a:r>
            <a:endParaRPr 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61733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err="1">
                <a:solidFill>
                  <a:srgbClr val="7DD3FC"/>
                </a:solidFill>
                <a:latin typeface="Microsoft JhengHei" pitchFamily="34" charset="0"/>
                <a:ea typeface="Microsoft JhengHei" pitchFamily="34" charset="-122"/>
                <a:cs typeface="Microsoft JhengHei" pitchFamily="34" charset="-120"/>
              </a:rPr>
              <a:t>主要結果三：提示詞設計為品質主因 (RQ3)</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2743200"/>
        </p:xfrm>
        <a:graphic>
          <a:graphicData uri="http://schemas.openxmlformats.org/drawingml/2006/table">
            <a:tbl>
              <a:tblPr/>
              <a:tblGrid>
                <a:gridCol w="3383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57200">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維度</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微調 + CoT 提示詞</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單提示詞微調</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基礎模型 + CoT 提示詞</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extLst>
                  <a:ext uri="{0D108BD9-81ED-4DB2-BD59-A6C34878D82A}">
                    <a16:rowId xmlns:a16="http://schemas.microsoft.com/office/drawing/2014/main" val="10000"/>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Readability</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92</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92</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92</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Maintainability</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95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88</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95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2"/>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Correctness</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98</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95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98</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Multi-Review Coverage</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96</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96</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94</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4"/>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Conciseness</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100</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100</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457200" y="4114800"/>
            <a:ext cx="1124712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結果分析</a:t>
            </a:r>
            <a:endParaRPr lang="en-US" sz="2000" dirty="0"/>
          </a:p>
        </p:txBody>
      </p:sp>
      <p:sp>
        <p:nvSpPr>
          <p:cNvPr id="6" name="Text 3"/>
          <p:cNvSpPr/>
          <p:nvPr/>
        </p:nvSpPr>
        <p:spPr>
          <a:xfrm>
            <a:off x="457200" y="4572000"/>
            <a:ext cx="11247120" cy="182880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具備 CoT 提示詞之兩組分數幾近相同，顯示 CoT 拆解為品質主要來源</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單一提示詞於 Conciseness 顯著下滑 (100 → 85)，揭露上下文負載問題</a:t>
            </a:r>
            <a:endParaRPr lang="en-US" sz="1600" dirty="0"/>
          </a:p>
          <a:p>
            <a:pPr marL="342900" indent="-342900">
              <a:spcAft>
                <a:spcPts val="400"/>
              </a:spcAft>
              <a:buSzPct val="100000"/>
              <a:buChar char="●"/>
            </a:pPr>
            <a:r>
              <a:rPr lang="en-US" sz="1600" dirty="0" err="1">
                <a:solidFill>
                  <a:srgbClr val="E5E7EB"/>
                </a:solidFill>
                <a:latin typeface="Microsoft JhengHei" pitchFamily="34" charset="0"/>
                <a:ea typeface="Microsoft JhengHei" pitchFamily="34" charset="-122"/>
                <a:cs typeface="Microsoft JhengHei" pitchFamily="34" charset="-120"/>
              </a:rPr>
              <a:t>微調之貢獻集中於</a:t>
            </a:r>
            <a:r>
              <a:rPr lang="en-US" sz="1600" dirty="0">
                <a:solidFill>
                  <a:srgbClr val="E5E7EB"/>
                </a:solidFill>
                <a:latin typeface="Microsoft JhengHei" pitchFamily="34" charset="0"/>
                <a:ea typeface="Microsoft JhengHei" pitchFamily="34" charset="-122"/>
                <a:cs typeface="Microsoft JhengHei" pitchFamily="34" charset="-120"/>
              </a:rPr>
              <a:t> Multi-Review Coverage (+2 分)，與基礎模型形成差距</a:t>
            </a:r>
            <a:endParaRPr lang="en-US" sz="1600" dirty="0"/>
          </a:p>
        </p:txBody>
      </p:sp>
      <p:sp>
        <p:nvSpPr>
          <p:cNvPr id="7" name="Text 4"/>
          <p:cNvSpPr/>
          <p:nvPr/>
        </p:nvSpPr>
        <p:spPr>
          <a:xfrm>
            <a:off x="10972800" y="6446520"/>
            <a:ext cx="1097280" cy="320040"/>
          </a:xfrm>
          <a:prstGeom prst="rect">
            <a:avLst/>
          </a:prstGeom>
          <a:noFill/>
          <a:ln/>
        </p:spPr>
        <p:txBody>
          <a:bodyPr wrap="square" rtlCol="0" anchor="ctr"/>
          <a:lstStyle/>
          <a:p>
            <a:pPr marL="0" indent="0" algn="r">
              <a:buNone/>
            </a:pPr>
            <a:r>
              <a:rPr lang="en-US" sz="1000" dirty="0">
                <a:solidFill>
                  <a:srgbClr val="9CA3AF"/>
                </a:solidFill>
                <a:latin typeface="Microsoft JhengHei" pitchFamily="34" charset="0"/>
                <a:ea typeface="Microsoft JhengHei" pitchFamily="34" charset="-122"/>
                <a:cs typeface="Microsoft JhengHei" pitchFamily="34" charset="-120"/>
              </a:rPr>
              <a:t>16 / 21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err="1">
                <a:solidFill>
                  <a:srgbClr val="7DD3FC"/>
                </a:solidFill>
                <a:latin typeface="Microsoft JhengHei" pitchFamily="34" charset="0"/>
                <a:ea typeface="Microsoft JhengHei" pitchFamily="34" charset="-122"/>
                <a:cs typeface="Microsoft JhengHei" pitchFamily="34" charset="-120"/>
              </a:rPr>
              <a:t>主要結果四：人工評分 (RQ4)</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2743200"/>
        </p:xfrm>
        <a:graphic>
          <a:graphicData uri="http://schemas.openxmlformats.org/drawingml/2006/table">
            <a:tbl>
              <a:tblPr/>
              <a:tblGrid>
                <a:gridCol w="3383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57200">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維度</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微調 + CoT 提示詞</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單提示詞微調</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tc>
                  <a:txBody>
                    <a:bodyPr/>
                    <a:lstStyle/>
                    <a:p>
                      <a:pPr marL="0" indent="0" algn="ctr">
                        <a:buNone/>
                      </a:pPr>
                      <a:r>
                        <a:rPr lang="en-US" sz="1700" b="1" dirty="0">
                          <a:solidFill>
                            <a:srgbClr val="7DD3FC"/>
                          </a:solidFill>
                          <a:latin typeface="Microsoft JhengHei" pitchFamily="34" charset="0"/>
                          <a:ea typeface="Microsoft JhengHei" pitchFamily="34" charset="-122"/>
                          <a:cs typeface="Microsoft JhengHei" pitchFamily="34" charset="-120"/>
                        </a:rPr>
                        <a:t>基礎模型 + CoT 提示詞</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0E2A3F"/>
                    </a:solidFill>
                  </a:tcPr>
                </a:tc>
                <a:extLst>
                  <a:ext uri="{0D108BD9-81ED-4DB2-BD59-A6C34878D82A}">
                    <a16:rowId xmlns:a16="http://schemas.microsoft.com/office/drawing/2014/main" val="10000"/>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Readability</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83.50</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85.25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84.63</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Maintainability</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86.25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79.88</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84.88</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2"/>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Correctness</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87.75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80.75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86.38</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Multi-Review Coverage</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86.25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b="1" dirty="0">
                          <a:solidFill>
                            <a:srgbClr val="2DD4BF"/>
                          </a:solidFill>
                          <a:latin typeface="Microsoft JhengHei" pitchFamily="34" charset="0"/>
                          <a:ea typeface="Microsoft JhengHei" pitchFamily="34" charset="-122"/>
                          <a:cs typeface="Microsoft JhengHei" pitchFamily="34" charset="-120"/>
                        </a:rPr>
                        <a:t>74.13</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86.38</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solidFill>
                      <a:srgbClr val="1F232C"/>
                    </a:solidFill>
                  </a:tcPr>
                </a:tc>
                <a:extLst>
                  <a:ext uri="{0D108BD9-81ED-4DB2-BD59-A6C34878D82A}">
                    <a16:rowId xmlns:a16="http://schemas.microsoft.com/office/drawing/2014/main" val="10004"/>
                  </a:ext>
                </a:extLst>
              </a:tr>
              <a:tr h="457200">
                <a:tc>
                  <a:txBody>
                    <a:bodyPr/>
                    <a:lstStyle/>
                    <a:p>
                      <a:pPr marL="0" indent="0" algn="l">
                        <a:buNone/>
                      </a:pPr>
                      <a:r>
                        <a:rPr lang="en-US" sz="1700" b="1" dirty="0">
                          <a:solidFill>
                            <a:srgbClr val="E5E7EB"/>
                          </a:solidFill>
                          <a:latin typeface="Microsoft JhengHei" pitchFamily="34" charset="0"/>
                          <a:ea typeface="Microsoft JhengHei" pitchFamily="34" charset="-122"/>
                          <a:cs typeface="Microsoft JhengHei" pitchFamily="34" charset="-120"/>
                        </a:rPr>
                        <a:t>Conciseness</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84.25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76.25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tc>
                  <a:txBody>
                    <a:bodyPr/>
                    <a:lstStyle/>
                    <a:p>
                      <a:pPr marL="0" indent="0" algn="ctr">
                        <a:buNone/>
                      </a:pPr>
                      <a:r>
                        <a:rPr lang="en-US" sz="1700" dirty="0">
                          <a:solidFill>
                            <a:srgbClr val="E5E7EB"/>
                          </a:solidFill>
                          <a:latin typeface="Microsoft JhengHei" pitchFamily="34" charset="0"/>
                          <a:ea typeface="Microsoft JhengHei" pitchFamily="34" charset="-122"/>
                          <a:cs typeface="Microsoft JhengHei" pitchFamily="34" charset="-120"/>
                        </a:rPr>
                        <a:t>84.75</a:t>
                      </a:r>
                      <a:endParaRPr lang="en-US" sz="1700" dirty="0">
                        <a:latin typeface="Microsoft JhengHei" charset="0"/>
                        <a:ea typeface="Microsoft JhengHei" charset="0"/>
                        <a:cs typeface="Microsoft JhengHei" charset="0"/>
                      </a:endParaRPr>
                    </a:p>
                  </a:txBody>
                  <a:tcPr anchor="ctr">
                    <a:lnL w="6350" cap="flat" cmpd="sng" algn="ctr">
                      <a:solidFill>
                        <a:srgbClr val="B0BEC5"/>
                      </a:solidFill>
                      <a:prstDash val="solid"/>
                      <a:round/>
                      <a:headEnd type="none" w="med" len="med"/>
                      <a:tailEnd type="none" w="med" len="med"/>
                    </a:lnL>
                    <a:lnR w="6350" cap="flat" cmpd="sng" algn="ctr">
                      <a:solidFill>
                        <a:srgbClr val="B0BEC5"/>
                      </a:solidFill>
                      <a:prstDash val="solid"/>
                      <a:round/>
                      <a:headEnd type="none" w="med" len="med"/>
                      <a:tailEnd type="none" w="med" len="med"/>
                    </a:lnR>
                    <a:lnT w="6350" cap="flat" cmpd="sng" algn="ctr">
                      <a:solidFill>
                        <a:srgbClr val="B0BEC5"/>
                      </a:solidFill>
                      <a:prstDash val="solid"/>
                      <a:round/>
                      <a:headEnd type="none" w="med" len="med"/>
                      <a:tailEnd type="none" w="med" len="med"/>
                    </a:lnT>
                    <a:lnB w="6350" cap="flat" cmpd="sng" algn="ctr">
                      <a:solidFill>
                        <a:srgbClr val="B0BEC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472440" y="4581144"/>
            <a:ext cx="11247120" cy="155448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微調於 Maintainability 與 Correctness 較基礎模型分別提升 1.37 分</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單提示詞於 Multi-Review Coverage 僅達 74.13，再次驗證 CoT 必要性</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LLM Judge 與人工評分趨勢一致，但人工評分量級較保守</a:t>
            </a:r>
            <a:endParaRPr lang="en-US" sz="1600" dirty="0"/>
          </a:p>
        </p:txBody>
      </p:sp>
      <p:sp>
        <p:nvSpPr>
          <p:cNvPr id="8" name="Text 5"/>
          <p:cNvSpPr/>
          <p:nvPr/>
        </p:nvSpPr>
        <p:spPr>
          <a:xfrm>
            <a:off x="10972800" y="6446520"/>
            <a:ext cx="1097280" cy="320040"/>
          </a:xfrm>
          <a:prstGeom prst="rect">
            <a:avLst/>
          </a:prstGeom>
          <a:noFill/>
          <a:ln/>
        </p:spPr>
        <p:txBody>
          <a:bodyPr wrap="square" rtlCol="0" anchor="ctr"/>
          <a:lstStyle/>
          <a:p>
            <a:pPr marL="0" indent="0" algn="r">
              <a:buNone/>
            </a:pPr>
            <a:r>
              <a:rPr lang="en-US" sz="1000" dirty="0">
                <a:solidFill>
                  <a:srgbClr val="9CA3AF"/>
                </a:solidFill>
                <a:latin typeface="Microsoft JhengHei" pitchFamily="34" charset="0"/>
                <a:ea typeface="Microsoft JhengHei" pitchFamily="34" charset="-122"/>
                <a:cs typeface="Microsoft JhengHei" pitchFamily="34" charset="-120"/>
              </a:rPr>
              <a:t>17 / 21</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LLM Judge 與人工評分之一致性</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分數分布差異</a:t>
            </a:r>
            <a:endParaRPr lang="en-US" sz="2000" dirty="0"/>
          </a:p>
        </p:txBody>
      </p:sp>
      <p:sp>
        <p:nvSpPr>
          <p:cNvPr id="5" name="Text 3"/>
          <p:cNvSpPr/>
          <p:nvPr/>
        </p:nvSpPr>
        <p:spPr>
          <a:xfrm>
            <a:off x="457200" y="1554480"/>
            <a:ext cx="5486400" cy="182880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LLM Judge 多集中於 80–100 分區間</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人工評分多集中於 70–87 分區間</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LLM Judge 高分端存在明顯天花板效應</a:t>
            </a:r>
            <a:endParaRPr lang="en-US" sz="1600" dirty="0"/>
          </a:p>
        </p:txBody>
      </p:sp>
      <p:sp>
        <p:nvSpPr>
          <p:cNvPr id="6" name="Text 4"/>
          <p:cNvSpPr/>
          <p:nvPr/>
        </p:nvSpPr>
        <p:spPr>
          <a:xfrm>
            <a:off x="457200" y="347472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趨勢高度一致</a:t>
            </a:r>
            <a:endParaRPr lang="en-US" sz="2000" dirty="0"/>
          </a:p>
        </p:txBody>
      </p:sp>
      <p:sp>
        <p:nvSpPr>
          <p:cNvPr id="7" name="Text 5"/>
          <p:cNvSpPr/>
          <p:nvPr/>
        </p:nvSpPr>
        <p:spPr>
          <a:xfrm>
            <a:off x="457200" y="3931920"/>
            <a:ext cx="5486400" cy="164592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三組設定之排名於兩種評分下完全吻合</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CoT 必要性與微調加值之結論一致</a:t>
            </a:r>
            <a:endParaRPr lang="en-US" sz="1600" dirty="0"/>
          </a:p>
        </p:txBody>
      </p:sp>
      <p:sp>
        <p:nvSpPr>
          <p:cNvPr id="8" name="Text 6"/>
          <p:cNvSpPr/>
          <p:nvPr/>
        </p:nvSpPr>
        <p:spPr>
          <a:xfrm>
            <a:off x="621792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評估啟示</a:t>
            </a:r>
            <a:endParaRPr lang="en-US" sz="2000" dirty="0"/>
          </a:p>
        </p:txBody>
      </p:sp>
      <p:sp>
        <p:nvSpPr>
          <p:cNvPr id="9" name="Text 7"/>
          <p:cNvSpPr/>
          <p:nvPr/>
        </p:nvSpPr>
        <p:spPr>
          <a:xfrm>
            <a:off x="6217920" y="1554480"/>
            <a:ext cx="5486400" cy="182880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LLM Judge 適合大規模快速篩選</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人工評分可校正絕對值偏差</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兩者互補，不宜相互取代</a:t>
            </a:r>
            <a:endParaRPr lang="en-US" sz="1600" dirty="0"/>
          </a:p>
        </p:txBody>
      </p:sp>
      <p:sp>
        <p:nvSpPr>
          <p:cNvPr id="10" name="Text 8"/>
          <p:cNvSpPr/>
          <p:nvPr/>
        </p:nvSpPr>
        <p:spPr>
          <a:xfrm>
            <a:off x="6217920" y="347472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回應 LLM-as-a-Judge 之侷限</a:t>
            </a:r>
            <a:endParaRPr lang="en-US" sz="2000" dirty="0"/>
          </a:p>
        </p:txBody>
      </p:sp>
      <p:sp>
        <p:nvSpPr>
          <p:cNvPr id="11" name="Text 9"/>
          <p:cNvSpPr/>
          <p:nvPr/>
        </p:nvSpPr>
        <p:spPr>
          <a:xfrm>
            <a:off x="6217920" y="3931920"/>
            <a:ext cx="5486400" cy="2194560"/>
          </a:xfrm>
          <a:prstGeom prst="rect">
            <a:avLst/>
          </a:prstGeom>
          <a:noFill/>
          <a:ln/>
        </p:spPr>
        <p:txBody>
          <a:bodyPr wrap="square" rtlCol="0" anchor="t"/>
          <a:lstStyle/>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無法實際執行程式碼</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對提示詞敏感，可能出現幻覺</a:t>
            </a:r>
            <a:endParaRPr lang="en-US" sz="1600" dirty="0"/>
          </a:p>
          <a:p>
            <a:pPr marL="342900" indent="-342900">
              <a:spcAft>
                <a:spcPts val="400"/>
              </a:spcAft>
              <a:buSzPct val="100000"/>
              <a:buChar char="●"/>
            </a:pPr>
            <a:r>
              <a:rPr lang="en-US" sz="1600" dirty="0">
                <a:solidFill>
                  <a:srgbClr val="E5E7EB"/>
                </a:solidFill>
                <a:latin typeface="Microsoft JhengHei" pitchFamily="34" charset="0"/>
                <a:ea typeface="Microsoft JhengHei" pitchFamily="34" charset="-122"/>
                <a:cs typeface="Microsoft JhengHei" pitchFamily="34" charset="-120"/>
              </a:rPr>
              <a:t>最終仍須由人工審查進行背書</a:t>
            </a:r>
            <a:endParaRPr lang="en-US" sz="1600" dirty="0"/>
          </a:p>
        </p:txBody>
      </p:sp>
      <p:sp>
        <p:nvSpPr>
          <p:cNvPr id="12" name="Text 10"/>
          <p:cNvSpPr/>
          <p:nvPr/>
        </p:nvSpPr>
        <p:spPr>
          <a:xfrm>
            <a:off x="10972800" y="6446520"/>
            <a:ext cx="1097280" cy="320040"/>
          </a:xfrm>
          <a:prstGeom prst="rect">
            <a:avLst/>
          </a:prstGeom>
          <a:noFill/>
          <a:ln/>
        </p:spPr>
        <p:txBody>
          <a:bodyPr wrap="square" rtlCol="0" anchor="ctr"/>
          <a:lstStyle/>
          <a:p>
            <a:pPr marL="0" indent="0" algn="r">
              <a:buNone/>
            </a:pPr>
            <a:r>
              <a:rPr lang="en-US" sz="1000" dirty="0">
                <a:solidFill>
                  <a:srgbClr val="9CA3AF"/>
                </a:solidFill>
                <a:latin typeface="Microsoft JhengHei" pitchFamily="34" charset="0"/>
                <a:ea typeface="Microsoft JhengHei" pitchFamily="34" charset="-122"/>
                <a:cs typeface="Microsoft JhengHei" pitchFamily="34" charset="-120"/>
              </a:rPr>
              <a:t>18 / 21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貢獻總結</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11247120" cy="411480"/>
          </a:xfrm>
          <a:prstGeom prst="rect">
            <a:avLst/>
          </a:prstGeom>
          <a:noFill/>
          <a:ln/>
        </p:spPr>
        <p:txBody>
          <a:bodyPr wrap="square" rtlCol="0" anchor="ctr"/>
          <a:lstStyle/>
          <a:p>
            <a:pPr marL="0" indent="0">
              <a:buNone/>
            </a:pPr>
            <a:r>
              <a:rPr lang="en-US" sz="2000" b="1" dirty="0">
                <a:solidFill>
                  <a:srgbClr val="7DD3FC"/>
                </a:solidFill>
                <a:latin typeface="Microsoft JhengHei" pitchFamily="34" charset="0"/>
                <a:ea typeface="Microsoft JhengHei" pitchFamily="34" charset="-122"/>
                <a:cs typeface="Microsoft JhengHei" pitchFamily="34" charset="-120"/>
              </a:rPr>
              <a:t>一、多階段 CoT 審查框架</a:t>
            </a:r>
            <a:endParaRPr lang="en-US" sz="2000" dirty="0"/>
          </a:p>
        </p:txBody>
      </p:sp>
      <p:sp>
        <p:nvSpPr>
          <p:cNvPr id="5" name="Text 3"/>
          <p:cNvSpPr/>
          <p:nvPr/>
        </p:nvSpPr>
        <p:spPr>
          <a:xfrm>
            <a:off x="640080" y="1508760"/>
            <a:ext cx="10972800" cy="457200"/>
          </a:xfrm>
          <a:prstGeom prst="rect">
            <a:avLst/>
          </a:prstGeom>
          <a:noFill/>
          <a:ln/>
        </p:spPr>
        <p:txBody>
          <a:bodyPr wrap="square" rtlCol="0" anchor="ctr"/>
          <a:lstStyle/>
          <a:p>
            <a:pPr marL="0" indent="0">
              <a:buNone/>
            </a:pPr>
            <a:r>
              <a:rPr lang="en-US" sz="1700" dirty="0">
                <a:solidFill>
                  <a:srgbClr val="E5E7EB"/>
                </a:solidFill>
                <a:latin typeface="Microsoft JhengHei" pitchFamily="34" charset="0"/>
                <a:ea typeface="Microsoft JhengHei" pitchFamily="34" charset="-122"/>
                <a:cs typeface="Microsoft JhengHei" pitchFamily="34" charset="-120"/>
              </a:rPr>
              <a:t>CRSCORE++ 三項指標全面優於基準；Comprehensiveness 提升 0.19、Relevance 提升 0.20</a:t>
            </a:r>
            <a:endParaRPr lang="en-US" sz="1700" dirty="0"/>
          </a:p>
        </p:txBody>
      </p:sp>
      <p:sp>
        <p:nvSpPr>
          <p:cNvPr id="6" name="Text 4"/>
          <p:cNvSpPr/>
          <p:nvPr/>
        </p:nvSpPr>
        <p:spPr>
          <a:xfrm>
            <a:off x="457200" y="2103120"/>
            <a:ext cx="11247120" cy="411480"/>
          </a:xfrm>
          <a:prstGeom prst="rect">
            <a:avLst/>
          </a:prstGeom>
          <a:noFill/>
          <a:ln/>
        </p:spPr>
        <p:txBody>
          <a:bodyPr wrap="square" rtlCol="0" anchor="ctr"/>
          <a:lstStyle/>
          <a:p>
            <a:pPr marL="0" indent="0">
              <a:buNone/>
            </a:pPr>
            <a:r>
              <a:rPr lang="en-US" sz="2000" b="1" dirty="0">
                <a:solidFill>
                  <a:srgbClr val="7DD3FC"/>
                </a:solidFill>
                <a:latin typeface="Microsoft JhengHei" pitchFamily="34" charset="0"/>
                <a:ea typeface="Microsoft JhengHei" pitchFamily="34" charset="-122"/>
                <a:cs typeface="Microsoft JhengHei" pitchFamily="34" charset="-120"/>
              </a:rPr>
              <a:t>二、RAG 搭配 QLoRA 微調</a:t>
            </a:r>
            <a:endParaRPr lang="en-US" sz="2000" dirty="0"/>
          </a:p>
        </p:txBody>
      </p:sp>
      <p:sp>
        <p:nvSpPr>
          <p:cNvPr id="7" name="Text 5"/>
          <p:cNvSpPr/>
          <p:nvPr/>
        </p:nvSpPr>
        <p:spPr>
          <a:xfrm>
            <a:off x="640080" y="2514600"/>
            <a:ext cx="10972800" cy="457200"/>
          </a:xfrm>
          <a:prstGeom prst="rect">
            <a:avLst/>
          </a:prstGeom>
          <a:noFill/>
          <a:ln/>
        </p:spPr>
        <p:txBody>
          <a:bodyPr wrap="square" rtlCol="0" anchor="ctr"/>
          <a:lstStyle/>
          <a:p>
            <a:pPr marL="0" indent="0">
              <a:buNone/>
            </a:pPr>
            <a:r>
              <a:rPr lang="en-US" sz="1700" dirty="0">
                <a:solidFill>
                  <a:srgbClr val="E5E7EB"/>
                </a:solidFill>
                <a:latin typeface="Microsoft JhengHei" pitchFamily="34" charset="0"/>
                <a:ea typeface="Microsoft JhengHei" pitchFamily="34" charset="-122"/>
                <a:cs typeface="Microsoft JhengHei" pitchFamily="34" charset="-120"/>
              </a:rPr>
              <a:t>使 30B 級模型於有限硬體環境亦具可行性；人工評分中 Correctness 與 Maintainability 各提升 1.37 分</a:t>
            </a:r>
            <a:endParaRPr lang="en-US" sz="1700" dirty="0"/>
          </a:p>
        </p:txBody>
      </p:sp>
      <p:sp>
        <p:nvSpPr>
          <p:cNvPr id="8" name="Text 6"/>
          <p:cNvSpPr/>
          <p:nvPr/>
        </p:nvSpPr>
        <p:spPr>
          <a:xfrm>
            <a:off x="457200" y="3108960"/>
            <a:ext cx="11247120" cy="411480"/>
          </a:xfrm>
          <a:prstGeom prst="rect">
            <a:avLst/>
          </a:prstGeom>
          <a:noFill/>
          <a:ln/>
        </p:spPr>
        <p:txBody>
          <a:bodyPr wrap="square" rtlCol="0" anchor="ctr"/>
          <a:lstStyle/>
          <a:p>
            <a:pPr marL="0" indent="0">
              <a:buNone/>
            </a:pPr>
            <a:r>
              <a:rPr lang="en-US" sz="2000" b="1" dirty="0">
                <a:solidFill>
                  <a:srgbClr val="7DD3FC"/>
                </a:solidFill>
                <a:latin typeface="Microsoft JhengHei" pitchFamily="34" charset="0"/>
                <a:ea typeface="Microsoft JhengHei" pitchFamily="34" charset="-122"/>
                <a:cs typeface="Microsoft JhengHei" pitchFamily="34" charset="-120"/>
              </a:rPr>
              <a:t>三、雙重 Judge 與人工評分</a:t>
            </a:r>
            <a:endParaRPr lang="en-US" sz="2000" dirty="0"/>
          </a:p>
        </p:txBody>
      </p:sp>
      <p:sp>
        <p:nvSpPr>
          <p:cNvPr id="9" name="Text 7"/>
          <p:cNvSpPr/>
          <p:nvPr/>
        </p:nvSpPr>
        <p:spPr>
          <a:xfrm>
            <a:off x="640080" y="3520440"/>
            <a:ext cx="10972800" cy="457200"/>
          </a:xfrm>
          <a:prstGeom prst="rect">
            <a:avLst/>
          </a:prstGeom>
          <a:noFill/>
          <a:ln/>
        </p:spPr>
        <p:txBody>
          <a:bodyPr wrap="square" rtlCol="0" anchor="ctr"/>
          <a:lstStyle/>
          <a:p>
            <a:pPr marL="0" indent="0">
              <a:buNone/>
            </a:pPr>
            <a:r>
              <a:rPr lang="en-US" sz="1700" dirty="0">
                <a:solidFill>
                  <a:srgbClr val="E5E7EB"/>
                </a:solidFill>
                <a:latin typeface="Microsoft JhengHei" pitchFamily="34" charset="0"/>
                <a:ea typeface="Microsoft JhengHei" pitchFamily="34" charset="-122"/>
                <a:cs typeface="Microsoft JhengHei" pitchFamily="34" charset="-120"/>
              </a:rPr>
              <a:t>建立三層驗證機制，揭露 LLM Judge 高分偏差，強化結論之可信度</a:t>
            </a:r>
            <a:endParaRPr lang="en-US" sz="1700" dirty="0"/>
          </a:p>
        </p:txBody>
      </p:sp>
      <p:sp>
        <p:nvSpPr>
          <p:cNvPr id="10" name="Shape 8"/>
          <p:cNvSpPr/>
          <p:nvPr/>
        </p:nvSpPr>
        <p:spPr>
          <a:xfrm>
            <a:off x="457200" y="4297680"/>
            <a:ext cx="11247120" cy="1298448"/>
          </a:xfrm>
          <a:prstGeom prst="rect">
            <a:avLst/>
          </a:prstGeom>
          <a:solidFill>
            <a:srgbClr val="161A22"/>
          </a:solidFill>
          <a:ln w="25400">
            <a:solidFill>
              <a:srgbClr val="E65100"/>
            </a:solidFill>
            <a:prstDash val="solid"/>
          </a:ln>
        </p:spPr>
        <p:txBody>
          <a:bodyPr/>
          <a:lstStyle/>
          <a:p>
            <a:endParaRPr/>
          </a:p>
        </p:txBody>
      </p:sp>
      <p:sp>
        <p:nvSpPr>
          <p:cNvPr id="11" name="Text 9"/>
          <p:cNvSpPr/>
          <p:nvPr/>
        </p:nvSpPr>
        <p:spPr>
          <a:xfrm>
            <a:off x="640080" y="4434840"/>
            <a:ext cx="10972800" cy="457200"/>
          </a:xfrm>
          <a:prstGeom prst="rect">
            <a:avLst/>
          </a:prstGeom>
          <a:noFill/>
          <a:ln/>
        </p:spPr>
        <p:txBody>
          <a:bodyPr wrap="square" rtlCol="0" anchor="ctr"/>
          <a:lstStyle/>
          <a:p>
            <a:pPr marL="0" indent="0">
              <a:buNone/>
            </a:pPr>
            <a:r>
              <a:rPr lang="en-US" sz="1800" b="1" dirty="0">
                <a:solidFill>
                  <a:srgbClr val="2DD4BF"/>
                </a:solidFill>
                <a:latin typeface="Microsoft JhengHei" pitchFamily="34" charset="0"/>
                <a:ea typeface="Microsoft JhengHei" pitchFamily="34" charset="-122"/>
                <a:cs typeface="Microsoft JhengHei" pitchFamily="34" charset="-120"/>
              </a:rPr>
              <a:t>核心觀察</a:t>
            </a:r>
            <a:endParaRPr lang="en-US" sz="1800" dirty="0"/>
          </a:p>
        </p:txBody>
      </p:sp>
      <p:sp>
        <p:nvSpPr>
          <p:cNvPr id="13" name="Text 11"/>
          <p:cNvSpPr/>
          <p:nvPr/>
        </p:nvSpPr>
        <p:spPr>
          <a:xfrm>
            <a:off x="640080" y="5029200"/>
            <a:ext cx="10972800" cy="457200"/>
          </a:xfrm>
          <a:prstGeom prst="rect">
            <a:avLst/>
          </a:prstGeom>
          <a:noFill/>
          <a:ln/>
        </p:spPr>
        <p:txBody>
          <a:bodyPr wrap="square" rtlCol="0" anchor="ctr"/>
          <a:lstStyle/>
          <a:p>
            <a:pPr marL="0" indent="0" algn="ctr">
              <a:buNone/>
            </a:pPr>
            <a:r>
              <a:rPr lang="en-US" sz="1600" dirty="0">
                <a:solidFill>
                  <a:srgbClr val="9CA3AF"/>
                </a:solidFill>
                <a:latin typeface="Microsoft JhengHei" pitchFamily="34" charset="0"/>
                <a:ea typeface="Microsoft JhengHei" pitchFamily="34" charset="-122"/>
                <a:cs typeface="Microsoft JhengHei" pitchFamily="34" charset="-120"/>
              </a:rPr>
              <a:t>CoT 拆解決定整體品質上限；微調於深層判斷面向（Maintainability / Correctness）提供額外增益。</a:t>
            </a:r>
            <a:endParaRPr lang="en-US" sz="1600" dirty="0"/>
          </a:p>
        </p:txBody>
      </p:sp>
      <p:sp>
        <p:nvSpPr>
          <p:cNvPr id="14" name="Text 12"/>
          <p:cNvSpPr/>
          <p:nvPr/>
        </p:nvSpPr>
        <p:spPr>
          <a:xfrm>
            <a:off x="10972800" y="6446520"/>
            <a:ext cx="1097280" cy="320040"/>
          </a:xfrm>
          <a:prstGeom prst="rect">
            <a:avLst/>
          </a:prstGeom>
          <a:noFill/>
          <a:ln/>
        </p:spPr>
        <p:txBody>
          <a:bodyPr wrap="square" rtlCol="0" anchor="ctr"/>
          <a:lstStyle/>
          <a:p>
            <a:pPr marL="0" indent="0" algn="r">
              <a:buNone/>
            </a:pPr>
            <a:r>
              <a:rPr lang="en-US" sz="1000" dirty="0">
                <a:solidFill>
                  <a:srgbClr val="9CA3AF"/>
                </a:solidFill>
                <a:latin typeface="Microsoft JhengHei" pitchFamily="34" charset="0"/>
                <a:ea typeface="Microsoft JhengHei" pitchFamily="34" charset="-122"/>
                <a:cs typeface="Microsoft JhengHei" pitchFamily="34" charset="-120"/>
              </a:rPr>
              <a:t>19 / 21</a:t>
            </a:r>
            <a:endParaRPr lang="en-US" sz="1000" dirty="0"/>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b="1" dirty="0">
                <a:solidFill>
                  <a:srgbClr val="7DD3FC"/>
                </a:solidFill>
                <a:latin typeface="Microsoft JhengHei" pitchFamily="34" charset="0"/>
                <a:ea typeface="Microsoft JhengHei" pitchFamily="34" charset="-122"/>
                <a:cs typeface="Microsoft JhengHei" pitchFamily="34" charset="-120"/>
              </a:rPr>
              <a:t>研究限制與未來工作</a:t>
            </a:r>
            <a:endParaRPr lang="en-US" sz="2800" dirty="0"/>
          </a:p>
        </p:txBody>
      </p:sp>
      <p:sp>
        <p:nvSpPr>
          <p:cNvPr id="3" name="Shape 1"/>
          <p:cNvSpPr/>
          <p:nvPr/>
        </p:nvSpPr>
        <p:spPr>
          <a:xfrm>
            <a:off x="457200" y="914400"/>
            <a:ext cx="11247120" cy="0"/>
          </a:xfrm>
          <a:prstGeom prst="line">
            <a:avLst/>
          </a:prstGeom>
          <a:noFill/>
          <a:ln w="25400">
            <a:solidFill>
              <a:srgbClr val="01579B"/>
            </a:solidFill>
            <a:prstDash val="solid"/>
          </a:ln>
        </p:spPr>
        <p:txBody>
          <a:bodyPr/>
          <a:lstStyle/>
          <a:p>
            <a:endParaRPr/>
          </a:p>
        </p:txBody>
      </p:sp>
      <p:sp>
        <p:nvSpPr>
          <p:cNvPr id="4" name="Text 2"/>
          <p:cNvSpPr/>
          <p:nvPr/>
        </p:nvSpPr>
        <p:spPr>
          <a:xfrm>
            <a:off x="457200" y="1097280"/>
            <a:ext cx="5486400" cy="411480"/>
          </a:xfrm>
          <a:prstGeom prst="rect">
            <a:avLst/>
          </a:prstGeom>
          <a:noFill/>
          <a:ln/>
        </p:spPr>
        <p:txBody>
          <a:bodyPr wrap="square" rtlCol="0" anchor="ctr"/>
          <a:lstStyle/>
          <a:p>
            <a:pPr marL="0" indent="0">
              <a:buNone/>
            </a:pPr>
            <a:r>
              <a:rPr lang="en-US" sz="2000" b="1" dirty="0">
                <a:solidFill>
                  <a:srgbClr val="2DD4BF"/>
                </a:solidFill>
                <a:latin typeface="Microsoft JhengHei" pitchFamily="34" charset="0"/>
                <a:ea typeface="Microsoft JhengHei" pitchFamily="34" charset="-122"/>
                <a:cs typeface="Microsoft JhengHei" pitchFamily="34" charset="-120"/>
              </a:rPr>
              <a:t>研究限制</a:t>
            </a:r>
            <a:endParaRPr lang="en-US" sz="2000" dirty="0"/>
          </a:p>
        </p:txBody>
      </p:sp>
      <p:sp>
        <p:nvSpPr>
          <p:cNvPr id="5" name="Text 3"/>
          <p:cNvSpPr/>
          <p:nvPr/>
        </p:nvSpPr>
        <p:spPr>
          <a:xfrm>
            <a:off x="457200" y="1554480"/>
            <a:ext cx="5486400" cy="365760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測試資料規模為 44 筆且僅涵蓋 Python</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LLM Judge 存在高分天花板效應</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多階段輸出天然較長，Conciseness 相對受限</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尚未納入真實開源專案之 Pull Request 情境</a:t>
            </a:r>
            <a:endParaRPr lang="en-US" sz="1700" dirty="0"/>
          </a:p>
        </p:txBody>
      </p:sp>
      <p:sp>
        <p:nvSpPr>
          <p:cNvPr id="6" name="Text 4"/>
          <p:cNvSpPr/>
          <p:nvPr/>
        </p:nvSpPr>
        <p:spPr>
          <a:xfrm>
            <a:off x="6217920" y="1097280"/>
            <a:ext cx="5486400" cy="411480"/>
          </a:xfrm>
          <a:prstGeom prst="rect">
            <a:avLst/>
          </a:prstGeom>
          <a:noFill/>
          <a:ln/>
        </p:spPr>
        <p:txBody>
          <a:bodyPr wrap="square" rtlCol="0" anchor="ctr"/>
          <a:lstStyle/>
          <a:p>
            <a:pPr marL="0" indent="0">
              <a:buNone/>
            </a:pPr>
            <a:r>
              <a:rPr lang="en-US" sz="2000" b="1" dirty="0">
                <a:solidFill>
                  <a:srgbClr val="86EFAC"/>
                </a:solidFill>
                <a:latin typeface="Microsoft JhengHei" pitchFamily="34" charset="0"/>
                <a:ea typeface="Microsoft JhengHei" pitchFamily="34" charset="-122"/>
                <a:cs typeface="Microsoft JhengHei" pitchFamily="34" charset="-120"/>
              </a:rPr>
              <a:t>未來研究方向</a:t>
            </a:r>
            <a:endParaRPr lang="en-US" sz="2000" dirty="0"/>
          </a:p>
        </p:txBody>
      </p:sp>
      <p:sp>
        <p:nvSpPr>
          <p:cNvPr id="7" name="Text 5"/>
          <p:cNvSpPr/>
          <p:nvPr/>
        </p:nvSpPr>
        <p:spPr>
          <a:xfrm>
            <a:off x="6217920" y="1554480"/>
            <a:ext cx="5486400" cy="4114800"/>
          </a:xfrm>
          <a:prstGeom prst="rect">
            <a:avLst/>
          </a:prstGeom>
          <a:noFill/>
          <a:ln/>
        </p:spPr>
        <p:txBody>
          <a:bodyPr wrap="square" rtlCol="0" anchor="t"/>
          <a:lstStyle/>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擴展至多語言、多框架與開源專案資料集</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導入多代理人協作機制（語法 / 設計 / 安全）</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整合至 IDE、版本控制平台與 CI/CD 流程</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導入輸出後處理之重排序與壓縮機制</a:t>
            </a:r>
            <a:endParaRPr lang="en-US" sz="1700" dirty="0"/>
          </a:p>
          <a:p>
            <a:pPr marL="342900" indent="-342900">
              <a:spcAft>
                <a:spcPts val="400"/>
              </a:spcAft>
              <a:buSzPct val="100000"/>
              <a:buChar char="●"/>
            </a:pPr>
            <a:r>
              <a:rPr lang="en-US" sz="1700" dirty="0">
                <a:solidFill>
                  <a:srgbClr val="E5E7EB"/>
                </a:solidFill>
                <a:latin typeface="Microsoft JhengHei" pitchFamily="34" charset="0"/>
                <a:ea typeface="Microsoft JhengHei" pitchFamily="34" charset="-122"/>
                <a:cs typeface="Microsoft JhengHei" pitchFamily="34" charset="-120"/>
              </a:rPr>
              <a:t>探索較小規模學生模型之蒸餾極限</a:t>
            </a:r>
            <a:endParaRPr lang="en-US" sz="1700" dirty="0"/>
          </a:p>
        </p:txBody>
      </p:sp>
      <p:sp>
        <p:nvSpPr>
          <p:cNvPr id="8" name="Text 6"/>
          <p:cNvSpPr/>
          <p:nvPr/>
        </p:nvSpPr>
        <p:spPr>
          <a:xfrm>
            <a:off x="10972800" y="6446520"/>
            <a:ext cx="1097280" cy="320040"/>
          </a:xfrm>
          <a:prstGeom prst="rect">
            <a:avLst/>
          </a:prstGeom>
          <a:noFill/>
          <a:ln/>
        </p:spPr>
        <p:txBody>
          <a:bodyPr wrap="square" rtlCol="0" anchor="ctr"/>
          <a:lstStyle/>
          <a:p>
            <a:pPr marL="0" indent="0" algn="r">
              <a:buNone/>
            </a:pPr>
            <a:r>
              <a:rPr lang="en-US" altLang="zh-TW" sz="1000" dirty="0">
                <a:solidFill>
                  <a:srgbClr val="9CA3AF"/>
                </a:solidFill>
                <a:latin typeface="Microsoft JhengHei" pitchFamily="34" charset="0"/>
                <a:ea typeface="Microsoft JhengHei" pitchFamily="34" charset="-122"/>
                <a:cs typeface="Microsoft JhengHei" pitchFamily="34" charset="-120"/>
              </a:rPr>
              <a:t>20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12151B"/>
        </a:solidFill>
        <a:effectLst/>
      </p:bgPr>
    </p:bg>
    <p:spTree>
      <p:nvGrpSpPr>
        <p:cNvPr id="1" name=""/>
        <p:cNvGrpSpPr/>
        <p:nvPr/>
      </p:nvGrpSpPr>
      <p:grpSpPr>
        <a:xfrm>
          <a:off x="0" y="0"/>
          <a:ext cx="0" cy="0"/>
          <a:chOff x="0" y="0"/>
          <a:chExt cx="0" cy="0"/>
        </a:xfrm>
      </p:grpSpPr>
      <p:sp>
        <p:nvSpPr>
          <p:cNvPr id="2" name="Text 0"/>
          <p:cNvSpPr/>
          <p:nvPr/>
        </p:nvSpPr>
        <p:spPr>
          <a:xfrm>
            <a:off x="457200" y="2194560"/>
            <a:ext cx="11247120" cy="1371600"/>
          </a:xfrm>
          <a:prstGeom prst="rect">
            <a:avLst/>
          </a:prstGeom>
          <a:noFill/>
          <a:ln/>
        </p:spPr>
        <p:txBody>
          <a:bodyPr wrap="square" rtlCol="0" anchor="ctr"/>
          <a:lstStyle/>
          <a:p>
            <a:pPr marL="0" indent="0" algn="ctr">
              <a:buNone/>
            </a:pPr>
            <a:r>
              <a:rPr lang="en-US" sz="6000" b="1" dirty="0">
                <a:solidFill>
                  <a:srgbClr val="7DD3FC"/>
                </a:solidFill>
                <a:latin typeface="Microsoft JhengHei" pitchFamily="34" charset="0"/>
                <a:ea typeface="Microsoft JhengHei" pitchFamily="34" charset="-122"/>
                <a:cs typeface="Microsoft JhengHei" pitchFamily="34" charset="-120"/>
              </a:rPr>
              <a:t>敬請指教</a:t>
            </a:r>
            <a:endParaRPr lang="en-US" sz="6000" dirty="0"/>
          </a:p>
        </p:txBody>
      </p:sp>
      <p:sp>
        <p:nvSpPr>
          <p:cNvPr id="3" name="Text 1"/>
          <p:cNvSpPr/>
          <p:nvPr/>
        </p:nvSpPr>
        <p:spPr>
          <a:xfrm>
            <a:off x="457200" y="3657600"/>
            <a:ext cx="11247120" cy="731520"/>
          </a:xfrm>
          <a:prstGeom prst="rect">
            <a:avLst/>
          </a:prstGeom>
          <a:noFill/>
          <a:ln/>
        </p:spPr>
        <p:txBody>
          <a:bodyPr wrap="square" rtlCol="0" anchor="ctr"/>
          <a:lstStyle/>
          <a:p>
            <a:pPr marL="0" indent="0" algn="ctr">
              <a:buNone/>
            </a:pPr>
            <a:r>
              <a:rPr lang="en-US" sz="2800" dirty="0">
                <a:solidFill>
                  <a:srgbClr val="86EFAC"/>
                </a:solidFill>
                <a:latin typeface="Microsoft JhengHei" pitchFamily="34" charset="0"/>
                <a:ea typeface="Microsoft JhengHei" pitchFamily="34" charset="-122"/>
                <a:cs typeface="Microsoft JhengHei" pitchFamily="34" charset="-120"/>
              </a:rPr>
              <a:t>謝謝委員聆聽</a:t>
            </a:r>
            <a:endParaRPr lang="en-US" sz="2800" dirty="0"/>
          </a:p>
        </p:txBody>
      </p:sp>
      <p:sp>
        <p:nvSpPr>
          <p:cNvPr id="4" name="Text 2"/>
          <p:cNvSpPr/>
          <p:nvPr/>
        </p:nvSpPr>
        <p:spPr>
          <a:xfrm>
            <a:off x="457200" y="4937760"/>
            <a:ext cx="11247120" cy="1097280"/>
          </a:xfrm>
          <a:prstGeom prst="rect">
            <a:avLst/>
          </a:prstGeom>
          <a:noFill/>
          <a:ln/>
        </p:spPr>
        <p:txBody>
          <a:bodyPr wrap="square" rtlCol="0" anchor="ctr"/>
          <a:lstStyle/>
          <a:p>
            <a:pPr marL="0" indent="0" algn="ctr">
              <a:buNone/>
            </a:pPr>
            <a:r>
              <a:rPr lang="en-US" sz="2000" b="1" dirty="0">
                <a:solidFill>
                  <a:srgbClr val="9CA3AF"/>
                </a:solidFill>
                <a:latin typeface="Microsoft JhengHei" pitchFamily="34" charset="0"/>
                <a:ea typeface="Microsoft JhengHei" pitchFamily="34" charset="-122"/>
                <a:cs typeface="Microsoft JhengHei" pitchFamily="34" charset="-120"/>
              </a:rPr>
              <a:t>研究生  陳冠穎
</a:t>
            </a:r>
            <a:r>
              <a:rPr lang="en-US" sz="2000" dirty="0">
                <a:solidFill>
                  <a:srgbClr val="9CA3AF"/>
                </a:solidFill>
                <a:latin typeface="Microsoft JhengHei" pitchFamily="34" charset="0"/>
                <a:ea typeface="Microsoft JhengHei" pitchFamily="34" charset="-122"/>
                <a:cs typeface="Microsoft JhengHei" pitchFamily="34" charset="-120"/>
              </a:rPr>
              <a:t>國立高雄師範大學 軟體工程與管理學系</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199</TotalTime>
  <Words>1197</Words>
  <Application>Microsoft Office PowerPoint</Application>
  <PresentationFormat>寬螢幕</PresentationFormat>
  <Paragraphs>380</Paragraphs>
  <Slides>22</Slides>
  <Notes>22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22</vt:i4>
      </vt:variant>
    </vt:vector>
  </HeadingPairs>
  <TitlesOfParts>
    <vt:vector size="28" baseType="lpstr">
      <vt:lpstr>Microsoft JhengHei</vt:lpstr>
      <vt:lpstr>Microsoft JhengHei</vt:lpstr>
      <vt:lpstr>標楷體</vt: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基於大語言模型和思維鏈推理的程式碼審查框架</dc:title>
  <dc:subject>碩士學位論文口試</dc:subject>
  <dc:creator>陳冠穎</dc:creator>
  <cp:lastModifiedBy>冠穎 陳</cp:lastModifiedBy>
  <cp:revision>34</cp:revision>
  <dcterms:created xsi:type="dcterms:W3CDTF">2026-04-28T07:40:08Z</dcterms:created>
  <dcterms:modified xsi:type="dcterms:W3CDTF">2026-05-21T20:33:15Z</dcterms:modified>
</cp:coreProperties>
</file>